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snapToObjects="1">
      <p:cViewPr varScale="1">
        <p:scale>
          <a:sx n="99" d="100"/>
          <a:sy n="99" d="100"/>
        </p:scale>
        <p:origin x="192" y="6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881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question, not the answer. Name the four things people are adopting: Spec Kit, BMAD, Squad, and a three-file loop. Say this will take about half an hour, and that the appendix has every figure if someone wants the source. Do not preview the verdict yet.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will build whatever assumption you left unstated, and it will look finished. That is why planning is worth more than it was when typing was the bottleneck. The shape of the plan changed with it. A long document written once goes stale and the agent still treats it as truth. A short plan you update when the work changes is the planning that got more valuable.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across the cards. These star counts and start dates came from the GitHub API today, 6 October 2026. They are context, not a ranking. Spec Kit and the example harness, Pi, are large. BMAD is large and a few months older. Squad is younger, smaller, and built for GitHub Copilot. The fourth column has nothing to install. The docs homepage for Spec Kit still says 130K stars and 38 integrations; the API count is 140,313, and the integrations table lists 40 named agents plus a generic one. Use the table and the API if anyone checks.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loop. Constitution once, and only if those principles are already true. Then, per feature: specify, plan, tasks, implement, converge. Repeat implement and converge until it reports converged. Clarify, checklist, and analyze are extra quality gates. Install is Python 3.11+, uv, and an agent. The integrations reference lists 40 named agents plus generic; the marketing page still says 38. Brownfield, from their existing-project guide: you do not recreate the system as specifications. Do not make "document the entire existing system" the first feature. The new spec defines the change, and the codebase stays the implementation context. Started 21 August 2025. Release v1.1.0 on 2 October 2026. Pushed 5 October.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their own picture. A vague notion starts at clarify, a big clear idea at plan, a small change at build and verify, and learn-and-adjust loops back to plan. The README says small changes go straight to build. The heavier PRD, UX, and architecture path still exists for a change that is actually large. Personas and party mode are extra machinery: the default party is one model voicing every persona, and their docs say that single mind can quietly converge. Install is Node, npm, Git, and uv, via the skills CLI, or a Claude or Codex plugin marketplace. Started 13 April 2025. Latest release v6.12.1 on 4 October 2026. Pushed today.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Squad's README says it is not a chatbot wearing hats: each member runs in its own context, reads its own knowledge, and writes back what it learned. That separate context is real. The charter is identity, expertise, and voice, compiled into the system prompt at spawn time. A tester is that prompt plus a routing rule. Their team docs include a tester when tests are detected. Day to day is copilot --agent squad. npm wants Node 22.5 or newer; Homebrew, WinGet, and the standalone installer are the other paths, and the standalone build vendors Node. Started 6 February 2026. Release v1.0.1 on 4 October 2026. Pushed today. 3,251 stars.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whole method. Context is durable facts only: stack, conventions, domain terms, constraints, kept short. Plan is the current change: what, why, acceptance, approach, out of scope. The input is the requirement from the BA or product team, not a rediscovery. Roadmap is phases and items with status, updated when an item completes. That update is the agile record. Pi is an example harness, not a fourth method: minimal, 15 or more providers, and it ships without sub-agents or plan mode so you can keep your own workflow. Cursor or Copilot can read the same three files. No project installer.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Talk this as conditions, then leave the matrix up. Greenfield: you are writing decisions down as you make them. Spec Kit starts at specify. BMAD plans a big idea and builds a small change. Squad asks what you are building and proposes a team. The three files start as context you add when a decision sticks. Brownfield: Spec Kit's guide says the spec is the change, not a retroactive specification of every behaviour. BMAD says the knowledge is already in the source, and feeding the agent a prose replay creates contradictions and bloats the window. The three files verify a short context from the code and plan only the change. Squad scans the repo to cast roles, which answers a different question. Best used when: shared commands, optional depth, an existing Copilot shop, or the discipline to keep three files true.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Do not read every cell. Point at lock-in and install, then at the brownfield row. Invite people to photograph it. There is no diagram behind the table. Vanilla from the brief is the Three files column, so the audience can see what that column refuses to add: no CLI, no roster, no skill names.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overlap is the method. The rest is packaging. Read down one column if you need to, then land on the four words at the bottom: written intent, a plan, tasks, a check. Squad's version of the check is a reviewer protocol, including a lockout so the author of the change cannot be the one who approves it. That separate pass is a real idea. The job titles are not the idea. Spec Kit's converge step is the same idea with less costume: repeat until the implementation matches the spec. BMAD's build-and-verify is the same idea, and the five-field spec they added — why, capabilities, constraints, non-goals, success — is a short plan.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things that do not earn a place in the default path. First, a tester persona. Squad compiles the charter into the prompt. BMAD measured a cousin of this idea: the v6.11.0 notes, 10 August 2026, say an A/B on Claude and Codex found the cynical, jaded reviewer framing made no difference to residual-bug hit rate, while requiring at least ten concrete findings and asking what is missing did. Quote that if challenged. Second, a standing model per role. Squad's parallel-work docs route by task and by charter, and say cost wins when in doubt. Their switching-models scenario puts the tester on the fast tier and says the tester does not need the premium model to write tests. That catalog is a maintenance job. Keep one strong model and a separate review pass. Third, phase gates for a change whose requirements are already known. Fresh context plus an explicit check is the part worth keeping.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Agile, in this talk, means one bounded change in flight and then an update to the record. A phase gate is specifying the whole product before anyone sees code. Do not say waterfall died. People in this room still ship phase gates, and the line is too easy to swat. Say the heavy path recreates phase gates, and that each project now ships a short path because the long one is too much. Evidence: Spec Kit is per feature, and bug fixing does not require the feature workflow first. BMAD says small changes go straight to build. You can still turn the heavy setting on. The tool is not a waterfall. The heavy setting feels like one.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Split lock-in into three, or the question is mush. Model lock-in is low for Spec Kit and BMAD and high for Squad, because Squad is a Copilot team. Framework lock-in is real for all three: the .specify directory, BMAD skill names, and the .squad directory. Markdown lock-in is the acceptable kind, because the files move with you. Upkeep: abandonment is the wrong charge. Spec Kit was pushed on 5 October, and BMAD, Squad, and Pi were pushed on 6 October. BMAD v6.11, published 10 August 2026, renamed bmad-quick-dev to bmad-build and left shims until a v7 cut. The latest tag on top of that is v6.12.1, 4 October. They are maintained. The cost is keeping up with them. Licenses are MIT. BMAD's GitHub API license field says NOASSERTION because the LICENSE file adds a contributor paragraph; the file itself is MIT.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loop slowly. The BA or product requirement is the input. It goes into Plan.md: what, why, acceptance, approach, out of scope. You build that change. You check it against acceptance. You mark the roadmap item done. Anything that will still be true next month is folded into Context, and Context stays short. This is the same loop the frameworks are collapsing toward. It works on Pi, Cursor, Copilot, or anything else that will read the files. There is no project installer and no roster to maintain.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loop does not change between a new system and an old one. What changes is where Context comes from. Greenfield: write a decision into Context when it sticks. Brownfield: verify a short context from the code, and plan only the change. Spec Kit: do not document the entire existing system unless that inventory is the deliverable. The spec defines the change you intend, not every current behaviour. BMAD's existing-codebase guide: most of the knowledge is already in the source, and textual descriptions of things the agent can already read create contradiction, ambiguity, and context-window bloat. Their older document-the-project workflow is deprecated. Both codebases still take the requirement from the BA or product team into Plan.md.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caveat, said plainly. If you do not know the requirement, do not write a plan that pretends you do. The agent will implement the fiction. Discover until the change is bounded: who it is for, what done looks like, what is out of scope. Then write Plan.md. This case is uncommon when a BA or product team is feeding the work. It is fatal when it is skipped. A framework does not rescue it. BMAD's own spec skill says the spec writes the contract and does not help you figure out what you want; input too thin to use is sent back. Spec Kit's idea-assessment path can end in a documented stop. That stop is a legitimate result. More pages of guesses are still guesses.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concession, so this is not a slogan. If a team will not keep three files honest, and they want shared commands plus a paper trail, use Spec Kit's core loop: specify, plan, tasks, implement, converge. Leave the extra gates off unless a particular change is ambiguous. Leave constitution alone unless the principles are ones you already mean. BMAD's five-field spec — why, capabilities, constraints, non-goals, success signal — is a Plan.md with a skill wrapped around it. Use that shape. Do not turn the full PRD and architecture path on for a change you already understand. Do not adopt Squad in order to grow a better tester. Take Squad only if you already live in Copilot and you want the separate contexts, with your eyes open about the roster and the model map.</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two lines. Keep the plan current. Do not adopt a department of prompts. Pause. If there is time, take questions. The appendix has the URLs and the retrieval date. Do not walk the appendix unless someone asks where a number came from. If someone asks "so you are saying never use them," go back to the concession: Spec Kit's core loop, extra gates off, when a team needs the shared commands.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unless someone asks where a Spec Kit or BMAD figure came from. Point them at sources.md as well.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spoken unless someone asks about Squad, Pi, or how the star counts were taken.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  /  20</a:t>
            </a:r>
          </a:p>
        </p:txBody>
      </p:sp>
      <p:sp>
        <p:nvSpPr>
          <p:cNvPr id="5" name="TextBox 4"/>
          <p:cNvSpPr txBox="1"/>
          <p:nvPr/>
        </p:nvSpPr>
        <p:spPr>
          <a:xfrm>
            <a:off x="640080" y="1234440"/>
            <a:ext cx="10972800" cy="292608"/>
          </a:xfrm>
          <a:prstGeom prst="rect">
            <a:avLst/>
          </a:prstGeom>
          <a:noFill/>
        </p:spPr>
        <p:txBody>
          <a:bodyPr wrap="square" lIns="0" tIns="0" rIns="0" bIns="0" anchor="t"/>
          <a:lstStyle/>
          <a:p>
            <a:pPr algn="l">
              <a:spcBef>
                <a:spcPts val="0"/>
              </a:spcBef>
              <a:spcAft>
                <a:spcPts val="0"/>
              </a:spcAft>
            </a:pPr>
            <a:r>
              <a:rPr sz="1400" b="1" i="0">
                <a:solidFill>
                  <a:srgbClr val="0E4B48"/>
                </a:solidFill>
                <a:latin typeface="Calibri"/>
                <a:ea typeface="Calibri"/>
                <a:cs typeface="Calibri"/>
              </a:rPr>
              <a:t>SOFTWARE ENGINEERING MEETUP</a:t>
            </a:r>
          </a:p>
        </p:txBody>
      </p:sp>
      <p:sp>
        <p:nvSpPr>
          <p:cNvPr id="6" name="TextBox 5"/>
          <p:cNvSpPr txBox="1"/>
          <p:nvPr/>
        </p:nvSpPr>
        <p:spPr>
          <a:xfrm>
            <a:off x="640080" y="1645920"/>
            <a:ext cx="10972800" cy="1554480"/>
          </a:xfrm>
          <a:prstGeom prst="rect">
            <a:avLst/>
          </a:prstGeom>
          <a:noFill/>
        </p:spPr>
        <p:txBody>
          <a:bodyPr wrap="square" lIns="0" tIns="0" rIns="0" bIns="0" anchor="t"/>
          <a:lstStyle/>
          <a:p>
            <a:pPr algn="l">
              <a:spcBef>
                <a:spcPts val="0"/>
              </a:spcBef>
              <a:spcAft>
                <a:spcPts val="0"/>
              </a:spcAft>
            </a:pPr>
            <a:r>
              <a:rPr sz="4400" b="1" i="0">
                <a:solidFill>
                  <a:srgbClr val="1C1915"/>
                </a:solidFill>
                <a:latin typeface="Calibri"/>
                <a:ea typeface="Calibri"/>
                <a:cs typeface="Calibri"/>
              </a:rPr>
              <a:t>Do the new AI frameworks
earn their keep?</a:t>
            </a:r>
          </a:p>
        </p:txBody>
      </p:sp>
      <p:sp>
        <p:nvSpPr>
          <p:cNvPr id="7" name="TextBox 6"/>
          <p:cNvSpPr txBox="1"/>
          <p:nvPr/>
        </p:nvSpPr>
        <p:spPr>
          <a:xfrm>
            <a:off x="640080" y="3383280"/>
            <a:ext cx="10515600" cy="457200"/>
          </a:xfrm>
          <a:prstGeom prst="rect">
            <a:avLst/>
          </a:prstGeom>
          <a:noFill/>
        </p:spPr>
        <p:txBody>
          <a:bodyPr wrap="square" lIns="0" tIns="0" rIns="0" bIns="0" anchor="t"/>
          <a:lstStyle/>
          <a:p>
            <a:pPr algn="l">
              <a:spcBef>
                <a:spcPts val="0"/>
              </a:spcBef>
              <a:spcAft>
                <a:spcPts val="0"/>
              </a:spcAft>
            </a:pPr>
            <a:r>
              <a:rPr sz="2200" b="0" i="0">
                <a:solidFill>
                  <a:srgbClr val="6B645C"/>
                </a:solidFill>
                <a:latin typeface="Calibri"/>
                <a:ea typeface="Calibri"/>
                <a:cs typeface="Calibri"/>
              </a:rPr>
              <a:t>Spec Kit, BMAD, Squad, and three files you keep current.</a:t>
            </a:r>
          </a:p>
        </p:txBody>
      </p:sp>
      <p:sp>
        <p:nvSpPr>
          <p:cNvPr id="8" name="Rounded Rectangle 7"/>
          <p:cNvSpPr/>
          <p:nvPr/>
        </p:nvSpPr>
        <p:spPr>
          <a:xfrm>
            <a:off x="640080" y="4297680"/>
            <a:ext cx="2500884" cy="512064"/>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1C1915"/>
                </a:solidFill>
                <a:latin typeface="Calibri"/>
                <a:ea typeface="Calibri"/>
                <a:cs typeface="Calibri"/>
              </a:rPr>
              <a:t>Requirement</a:t>
            </a:r>
          </a:p>
        </p:txBody>
      </p:sp>
      <p:sp>
        <p:nvSpPr>
          <p:cNvPr id="9" name="TextBox 8"/>
          <p:cNvSpPr txBox="1"/>
          <p:nvPr/>
        </p:nvSpPr>
        <p:spPr>
          <a:xfrm>
            <a:off x="3140964" y="4297680"/>
            <a:ext cx="292608" cy="512064"/>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0" name="Rounded Rectangle 9"/>
          <p:cNvSpPr/>
          <p:nvPr/>
        </p:nvSpPr>
        <p:spPr>
          <a:xfrm>
            <a:off x="3433572" y="4297680"/>
            <a:ext cx="2500884" cy="512064"/>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1C1915"/>
                </a:solidFill>
                <a:latin typeface="Calibri"/>
                <a:ea typeface="Calibri"/>
                <a:cs typeface="Calibri"/>
              </a:rPr>
              <a:t>Short plan</a:t>
            </a:r>
          </a:p>
        </p:txBody>
      </p:sp>
      <p:sp>
        <p:nvSpPr>
          <p:cNvPr id="11" name="TextBox 10"/>
          <p:cNvSpPr txBox="1"/>
          <p:nvPr/>
        </p:nvSpPr>
        <p:spPr>
          <a:xfrm>
            <a:off x="5934456" y="4297680"/>
            <a:ext cx="292608" cy="512064"/>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2" name="Rounded Rectangle 11"/>
          <p:cNvSpPr/>
          <p:nvPr/>
        </p:nvSpPr>
        <p:spPr>
          <a:xfrm>
            <a:off x="6227064" y="4297680"/>
            <a:ext cx="2500884" cy="512064"/>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1C1915"/>
                </a:solidFill>
                <a:latin typeface="Calibri"/>
                <a:ea typeface="Calibri"/>
                <a:cs typeface="Calibri"/>
              </a:rPr>
              <a:t>Code</a:t>
            </a:r>
          </a:p>
        </p:txBody>
      </p:sp>
      <p:sp>
        <p:nvSpPr>
          <p:cNvPr id="13" name="TextBox 12"/>
          <p:cNvSpPr txBox="1"/>
          <p:nvPr/>
        </p:nvSpPr>
        <p:spPr>
          <a:xfrm>
            <a:off x="8727948" y="4297680"/>
            <a:ext cx="292608" cy="512064"/>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4" name="Rounded Rectangle 13"/>
          <p:cNvSpPr/>
          <p:nvPr/>
        </p:nvSpPr>
        <p:spPr>
          <a:xfrm>
            <a:off x="9020556" y="4297680"/>
            <a:ext cx="2500884" cy="512064"/>
          </a:xfrm>
          <a:prstGeom prst="roundRect">
            <a:avLst>
              <a:gd name="adj" fmla="val 5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F6F3EC"/>
                </a:solidFill>
                <a:latin typeface="Calibri"/>
                <a:ea typeface="Calibri"/>
                <a:cs typeface="Calibri"/>
              </a:rPr>
              <a:t>Update the plan</a:t>
            </a:r>
          </a:p>
        </p:txBody>
      </p:sp>
      <p:sp>
        <p:nvSpPr>
          <p:cNvPr id="15" name="TextBox 14"/>
          <p:cNvSpPr txBox="1"/>
          <p:nvPr/>
        </p:nvSpPr>
        <p:spPr>
          <a:xfrm>
            <a:off x="640080" y="5029200"/>
            <a:ext cx="10515600" cy="329184"/>
          </a:xfrm>
          <a:prstGeom prst="rect">
            <a:avLst/>
          </a:prstGeom>
          <a:noFill/>
        </p:spPr>
        <p:txBody>
          <a:bodyPr wrap="square" lIns="0" tIns="0" rIns="0" bIns="0" anchor="t"/>
          <a:lstStyle/>
          <a:p>
            <a:pPr algn="l">
              <a:spcBef>
                <a:spcPts val="0"/>
              </a:spcBef>
              <a:spcAft>
                <a:spcPts val="0"/>
              </a:spcAft>
            </a:pPr>
            <a:r>
              <a:rPr sz="1600" b="0" i="0">
                <a:solidFill>
                  <a:srgbClr val="6B645C"/>
                </a:solidFill>
                <a:latin typeface="Calibri"/>
                <a:ea typeface="Calibri"/>
                <a:cs typeface="Calibri"/>
              </a:rPr>
              <a:t>Planning is worth more. The artifact should be shorter.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2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THE SHIFT</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Intent got expensive</a:t>
            </a:r>
          </a:p>
        </p:txBody>
      </p:sp>
      <p:sp>
        <p:nvSpPr>
          <p:cNvPr id="7" name="Rounded Rectangle 6"/>
          <p:cNvSpPr/>
          <p:nvPr/>
        </p:nvSpPr>
        <p:spPr>
          <a:xfrm>
            <a:off x="566928" y="1554480"/>
            <a:ext cx="5349240" cy="4114800"/>
          </a:xfrm>
          <a:prstGeom prst="roundRect">
            <a:avLst>
              <a:gd name="adj" fmla="val 6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400" b="1" i="0">
                <a:solidFill>
                  <a:srgbClr val="0E4B48"/>
                </a:solidFill>
                <a:latin typeface="Calibri"/>
                <a:ea typeface="Calibri"/>
                <a:cs typeface="Calibri"/>
              </a:rPr>
              <a:t>Written once</a:t>
            </a:r>
          </a:p>
          <a:p>
            <a:pPr algn="l">
              <a:spcBef>
                <a:spcPts val="0"/>
              </a:spcBef>
              <a:spcAft>
                <a:spcPts val="1400"/>
              </a:spcAft>
            </a:pPr>
            <a:r>
              <a:rPr sz="2800" b="1" i="0">
                <a:solidFill>
                  <a:srgbClr val="1C1915"/>
                </a:solidFill>
                <a:latin typeface="Calibri"/>
                <a:ea typeface="Calibri"/>
                <a:cs typeface="Calibri"/>
              </a:rPr>
              <a:t>A long specification</a:t>
            </a:r>
          </a:p>
          <a:p>
            <a:pPr algn="l">
              <a:spcBef>
                <a:spcPts val="0"/>
              </a:spcBef>
              <a:spcAft>
                <a:spcPts val="0"/>
              </a:spcAft>
            </a:pPr>
            <a:r>
              <a:rPr sz="1800" b="0" i="0">
                <a:solidFill>
                  <a:srgbClr val="6B645C"/>
                </a:solidFill>
                <a:latin typeface="Calibri"/>
                <a:ea typeface="Calibri"/>
                <a:cs typeface="Calibri"/>
              </a:rPr>
              <a:t>It goes stale. The agent still treats it as the truth, and implements the stale parts with confidence.</a:t>
            </a:r>
          </a:p>
        </p:txBody>
      </p:sp>
      <p:sp>
        <p:nvSpPr>
          <p:cNvPr id="8" name="Rounded Rectangle 7"/>
          <p:cNvSpPr/>
          <p:nvPr/>
        </p:nvSpPr>
        <p:spPr>
          <a:xfrm>
            <a:off x="6263640" y="1554480"/>
            <a:ext cx="5349240" cy="4114800"/>
          </a:xfrm>
          <a:prstGeom prst="roundRect">
            <a:avLst>
              <a:gd name="adj" fmla="val 6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400" b="1" i="0">
                <a:solidFill>
                  <a:srgbClr val="E4F0EE"/>
                </a:solidFill>
                <a:latin typeface="Calibri"/>
                <a:ea typeface="Calibri"/>
                <a:cs typeface="Calibri"/>
              </a:rPr>
              <a:t>Kept current</a:t>
            </a:r>
          </a:p>
          <a:p>
            <a:pPr algn="l">
              <a:spcBef>
                <a:spcPts val="0"/>
              </a:spcBef>
              <a:spcAft>
                <a:spcPts val="1400"/>
              </a:spcAft>
            </a:pPr>
            <a:r>
              <a:rPr sz="2800" b="1" i="0">
                <a:solidFill>
                  <a:srgbClr val="F6F3EC"/>
                </a:solidFill>
                <a:latin typeface="Calibri"/>
                <a:ea typeface="Calibri"/>
                <a:cs typeface="Calibri"/>
              </a:rPr>
              <a:t>A short plan</a:t>
            </a:r>
          </a:p>
          <a:p>
            <a:pPr algn="l">
              <a:spcBef>
                <a:spcPts val="0"/>
              </a:spcBef>
              <a:spcAft>
                <a:spcPts val="0"/>
              </a:spcAft>
            </a:pPr>
            <a:r>
              <a:rPr sz="1800" b="0" i="0">
                <a:solidFill>
                  <a:srgbClr val="F6F3EC"/>
                </a:solidFill>
                <a:latin typeface="Calibri"/>
                <a:ea typeface="Calibri"/>
                <a:cs typeface="Calibri"/>
              </a:rPr>
              <a:t>One change, with acceptance, updated when the work moves. This is the planning that got more valuable.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3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LANDSCAPE</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Four approaches</a:t>
            </a:r>
          </a:p>
        </p:txBody>
      </p:sp>
      <p:sp>
        <p:nvSpPr>
          <p:cNvPr id="7" name="Rectangle 6"/>
          <p:cNvSpPr/>
          <p:nvPr/>
        </p:nvSpPr>
        <p:spPr>
          <a:xfrm>
            <a:off x="566928" y="1691640"/>
            <a:ext cx="2651760" cy="3520440"/>
          </a:xfrm>
          <a:prstGeom prst="rect">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 y="1691640"/>
            <a:ext cx="2651760" cy="6400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901952"/>
            <a:ext cx="2359152" cy="3474720"/>
          </a:xfrm>
          <a:prstGeom prst="rect">
            <a:avLst/>
          </a:prstGeom>
          <a:noFill/>
        </p:spPr>
        <p:txBody>
          <a:bodyPr wrap="square" lIns="0" tIns="0" rIns="0" bIns="0" anchor="t"/>
          <a:lstStyle/>
          <a:p>
            <a:pPr algn="l">
              <a:spcBef>
                <a:spcPts val="0"/>
              </a:spcBef>
              <a:spcAft>
                <a:spcPts val="800"/>
              </a:spcAft>
            </a:pPr>
            <a:r>
              <a:rPr sz="2000" b="1" i="0">
                <a:solidFill>
                  <a:srgbClr val="1C1915"/>
                </a:solidFill>
                <a:latin typeface="Calibri"/>
                <a:ea typeface="Calibri"/>
                <a:cs typeface="Calibri"/>
              </a:rPr>
              <a:t>Spec Kit</a:t>
            </a:r>
          </a:p>
          <a:p>
            <a:pPr algn="l">
              <a:spcBef>
                <a:spcPts val="0"/>
              </a:spcBef>
              <a:spcAft>
                <a:spcPts val="0"/>
              </a:spcAft>
            </a:pPr>
            <a:r>
              <a:rPr sz="2600" b="1" i="0">
                <a:solidFill>
                  <a:srgbClr val="0E4B48"/>
                </a:solidFill>
                <a:latin typeface="Calibri"/>
                <a:ea typeface="Calibri"/>
                <a:cs typeface="Calibri"/>
              </a:rPr>
              <a:t>140,313</a:t>
            </a:r>
          </a:p>
          <a:p>
            <a:pPr algn="l">
              <a:spcBef>
                <a:spcPts val="0"/>
              </a:spcBef>
              <a:spcAft>
                <a:spcPts val="1000"/>
              </a:spcAft>
            </a:pPr>
            <a:r>
              <a:rPr sz="1200" b="0" i="0">
                <a:solidFill>
                  <a:srgbClr val="6B645C"/>
                </a:solidFill>
                <a:latin typeface="Calibri"/>
                <a:ea typeface="Calibri"/>
                <a:cs typeface="Calibri"/>
              </a:rPr>
              <a:t>GitHub stars</a:t>
            </a:r>
          </a:p>
          <a:p>
            <a:pPr algn="l">
              <a:spcBef>
                <a:spcPts val="0"/>
              </a:spcBef>
              <a:spcAft>
                <a:spcPts val="400"/>
              </a:spcAft>
            </a:pPr>
            <a:r>
              <a:rPr sz="1400" b="0" i="0">
                <a:solidFill>
                  <a:srgbClr val="1C1915"/>
                </a:solidFill>
                <a:latin typeface="Calibri"/>
                <a:ea typeface="Calibri"/>
                <a:cs typeface="Calibri"/>
              </a:rPr>
              <a:t>Started 21 Aug 2025</a:t>
            </a:r>
          </a:p>
          <a:p>
            <a:pPr algn="l">
              <a:spcBef>
                <a:spcPts val="0"/>
              </a:spcBef>
              <a:spcAft>
                <a:spcPts val="1200"/>
              </a:spcAft>
            </a:pPr>
            <a:r>
              <a:rPr sz="1300" b="0" i="0">
                <a:solidFill>
                  <a:srgbClr val="6B645C"/>
                </a:solidFill>
                <a:latin typeface="Calibri"/>
                <a:ea typeface="Calibri"/>
                <a:cs typeface="Calibri"/>
              </a:rPr>
              <a:t>github.github.com/spec-kit</a:t>
            </a:r>
          </a:p>
          <a:p>
            <a:pPr algn="l">
              <a:spcBef>
                <a:spcPts val="0"/>
              </a:spcBef>
              <a:spcAft>
                <a:spcPts val="800"/>
              </a:spcAft>
            </a:pPr>
            <a:r>
              <a:rPr sz="1400" b="1" i="0">
                <a:solidFill>
                  <a:srgbClr val="1C1915"/>
                </a:solidFill>
                <a:latin typeface="Calibri"/>
                <a:ea typeface="Calibri"/>
                <a:cs typeface="Calibri"/>
              </a:rPr>
              <a:t>Python 3.11+ and uv</a:t>
            </a:r>
          </a:p>
          <a:p>
            <a:pPr algn="l">
              <a:spcBef>
                <a:spcPts val="0"/>
              </a:spcBef>
              <a:spcAft>
                <a:spcPts val="0"/>
              </a:spcAft>
            </a:pPr>
            <a:r>
              <a:rPr sz="1400" b="0" i="0">
                <a:solidFill>
                  <a:srgbClr val="6B645C"/>
                </a:solidFill>
                <a:latin typeface="Calibri"/>
                <a:ea typeface="Calibri"/>
                <a:cs typeface="Calibri"/>
              </a:rPr>
              <a:t>A spec through plan, tasks, implementation, and a check.</a:t>
            </a:r>
          </a:p>
        </p:txBody>
      </p:sp>
      <p:sp>
        <p:nvSpPr>
          <p:cNvPr id="10" name="Rectangle 9"/>
          <p:cNvSpPr/>
          <p:nvPr/>
        </p:nvSpPr>
        <p:spPr>
          <a:xfrm>
            <a:off x="3383280" y="1691640"/>
            <a:ext cx="2651760" cy="3520440"/>
          </a:xfrm>
          <a:prstGeom prst="rect">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83280" y="1691640"/>
            <a:ext cx="2651760" cy="6400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529584" y="1901952"/>
            <a:ext cx="2359152" cy="3474720"/>
          </a:xfrm>
          <a:prstGeom prst="rect">
            <a:avLst/>
          </a:prstGeom>
          <a:noFill/>
        </p:spPr>
        <p:txBody>
          <a:bodyPr wrap="square" lIns="0" tIns="0" rIns="0" bIns="0" anchor="t"/>
          <a:lstStyle/>
          <a:p>
            <a:pPr algn="l">
              <a:spcBef>
                <a:spcPts val="0"/>
              </a:spcBef>
              <a:spcAft>
                <a:spcPts val="800"/>
              </a:spcAft>
            </a:pPr>
            <a:r>
              <a:rPr sz="2000" b="1" i="0">
                <a:solidFill>
                  <a:srgbClr val="1C1915"/>
                </a:solidFill>
                <a:latin typeface="Calibri"/>
                <a:ea typeface="Calibri"/>
                <a:cs typeface="Calibri"/>
              </a:rPr>
              <a:t>BMAD</a:t>
            </a:r>
          </a:p>
          <a:p>
            <a:pPr algn="l">
              <a:spcBef>
                <a:spcPts val="0"/>
              </a:spcBef>
              <a:spcAft>
                <a:spcPts val="0"/>
              </a:spcAft>
            </a:pPr>
            <a:r>
              <a:rPr sz="2600" b="1" i="0">
                <a:solidFill>
                  <a:srgbClr val="0E4B48"/>
                </a:solidFill>
                <a:latin typeface="Calibri"/>
                <a:ea typeface="Calibri"/>
                <a:cs typeface="Calibri"/>
              </a:rPr>
              <a:t>53,827</a:t>
            </a:r>
          </a:p>
          <a:p>
            <a:pPr algn="l">
              <a:spcBef>
                <a:spcPts val="0"/>
              </a:spcBef>
              <a:spcAft>
                <a:spcPts val="1000"/>
              </a:spcAft>
            </a:pPr>
            <a:r>
              <a:rPr sz="1200" b="0" i="0">
                <a:solidFill>
                  <a:srgbClr val="6B645C"/>
                </a:solidFill>
                <a:latin typeface="Calibri"/>
                <a:ea typeface="Calibri"/>
                <a:cs typeface="Calibri"/>
              </a:rPr>
              <a:t>GitHub stars</a:t>
            </a:r>
          </a:p>
          <a:p>
            <a:pPr algn="l">
              <a:spcBef>
                <a:spcPts val="0"/>
              </a:spcBef>
              <a:spcAft>
                <a:spcPts val="400"/>
              </a:spcAft>
            </a:pPr>
            <a:r>
              <a:rPr sz="1400" b="0" i="0">
                <a:solidFill>
                  <a:srgbClr val="1C1915"/>
                </a:solidFill>
                <a:latin typeface="Calibri"/>
                <a:ea typeface="Calibri"/>
                <a:cs typeface="Calibri"/>
              </a:rPr>
              <a:t>Started 13 Apr 2025</a:t>
            </a:r>
          </a:p>
          <a:p>
            <a:pPr algn="l">
              <a:spcBef>
                <a:spcPts val="0"/>
              </a:spcBef>
              <a:spcAft>
                <a:spcPts val="1200"/>
              </a:spcAft>
            </a:pPr>
            <a:r>
              <a:rPr sz="1300" b="0" i="0">
                <a:solidFill>
                  <a:srgbClr val="6B645C"/>
                </a:solidFill>
                <a:latin typeface="Calibri"/>
                <a:ea typeface="Calibri"/>
                <a:cs typeface="Calibri"/>
              </a:rPr>
              <a:t>docs.bmad-method.org</a:t>
            </a:r>
          </a:p>
          <a:p>
            <a:pPr algn="l">
              <a:spcBef>
                <a:spcPts val="0"/>
              </a:spcBef>
              <a:spcAft>
                <a:spcPts val="800"/>
              </a:spcAft>
            </a:pPr>
            <a:r>
              <a:rPr sz="1400" b="1" i="0">
                <a:solidFill>
                  <a:srgbClr val="1C1915"/>
                </a:solidFill>
                <a:latin typeface="Calibri"/>
                <a:ea typeface="Calibri"/>
                <a:cs typeface="Calibri"/>
              </a:rPr>
              <a:t>Node, npm, and uv</a:t>
            </a:r>
          </a:p>
          <a:p>
            <a:pPr algn="l">
              <a:spcBef>
                <a:spcPts val="0"/>
              </a:spcBef>
              <a:spcAft>
                <a:spcPts val="0"/>
              </a:spcAft>
            </a:pPr>
            <a:r>
              <a:rPr sz="1400" b="0" i="0">
                <a:solidFill>
                  <a:srgbClr val="6B645C"/>
                </a:solidFill>
                <a:latin typeface="Calibri"/>
                <a:ea typeface="Calibri"/>
                <a:cs typeface="Calibri"/>
              </a:rPr>
              <a:t>Planning depth that is supposed to size itself to the change.</a:t>
            </a:r>
          </a:p>
        </p:txBody>
      </p:sp>
      <p:sp>
        <p:nvSpPr>
          <p:cNvPr id="13" name="Rectangle 12"/>
          <p:cNvSpPr/>
          <p:nvPr/>
        </p:nvSpPr>
        <p:spPr>
          <a:xfrm>
            <a:off x="6199632" y="1691640"/>
            <a:ext cx="2651760" cy="3520440"/>
          </a:xfrm>
          <a:prstGeom prst="rect">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99632" y="1691640"/>
            <a:ext cx="2651760" cy="6400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45936" y="1901952"/>
            <a:ext cx="2359152" cy="3474720"/>
          </a:xfrm>
          <a:prstGeom prst="rect">
            <a:avLst/>
          </a:prstGeom>
          <a:noFill/>
        </p:spPr>
        <p:txBody>
          <a:bodyPr wrap="square" lIns="0" tIns="0" rIns="0" bIns="0" anchor="t"/>
          <a:lstStyle/>
          <a:p>
            <a:pPr algn="l">
              <a:spcBef>
                <a:spcPts val="0"/>
              </a:spcBef>
              <a:spcAft>
                <a:spcPts val="800"/>
              </a:spcAft>
            </a:pPr>
            <a:r>
              <a:rPr sz="2000" b="1" i="0">
                <a:solidFill>
                  <a:srgbClr val="1C1915"/>
                </a:solidFill>
                <a:latin typeface="Calibri"/>
                <a:ea typeface="Calibri"/>
                <a:cs typeface="Calibri"/>
              </a:rPr>
              <a:t>Squad</a:t>
            </a:r>
          </a:p>
          <a:p>
            <a:pPr algn="l">
              <a:spcBef>
                <a:spcPts val="0"/>
              </a:spcBef>
              <a:spcAft>
                <a:spcPts val="0"/>
              </a:spcAft>
            </a:pPr>
            <a:r>
              <a:rPr sz="2600" b="1" i="0">
                <a:solidFill>
                  <a:srgbClr val="0E4B48"/>
                </a:solidFill>
                <a:latin typeface="Calibri"/>
                <a:ea typeface="Calibri"/>
                <a:cs typeface="Calibri"/>
              </a:rPr>
              <a:t>3,251</a:t>
            </a:r>
          </a:p>
          <a:p>
            <a:pPr algn="l">
              <a:spcBef>
                <a:spcPts val="0"/>
              </a:spcBef>
              <a:spcAft>
                <a:spcPts val="1000"/>
              </a:spcAft>
            </a:pPr>
            <a:r>
              <a:rPr sz="1200" b="0" i="0">
                <a:solidFill>
                  <a:srgbClr val="6B645C"/>
                </a:solidFill>
                <a:latin typeface="Calibri"/>
                <a:ea typeface="Calibri"/>
                <a:cs typeface="Calibri"/>
              </a:rPr>
              <a:t>GitHub stars</a:t>
            </a:r>
          </a:p>
          <a:p>
            <a:pPr algn="l">
              <a:spcBef>
                <a:spcPts val="0"/>
              </a:spcBef>
              <a:spcAft>
                <a:spcPts val="400"/>
              </a:spcAft>
            </a:pPr>
            <a:r>
              <a:rPr sz="1400" b="0" i="0">
                <a:solidFill>
                  <a:srgbClr val="1C1915"/>
                </a:solidFill>
                <a:latin typeface="Calibri"/>
                <a:ea typeface="Calibri"/>
                <a:cs typeface="Calibri"/>
              </a:rPr>
              <a:t>Started 6 Feb 2026</a:t>
            </a:r>
          </a:p>
          <a:p>
            <a:pPr algn="l">
              <a:spcBef>
                <a:spcPts val="0"/>
              </a:spcBef>
              <a:spcAft>
                <a:spcPts val="1200"/>
              </a:spcAft>
            </a:pPr>
            <a:r>
              <a:rPr sz="1300" b="0" i="0">
                <a:solidFill>
                  <a:srgbClr val="6B645C"/>
                </a:solidFill>
                <a:latin typeface="Calibri"/>
                <a:ea typeface="Calibri"/>
                <a:cs typeface="Calibri"/>
              </a:rPr>
              <a:t>bradygaster.github.io/squad</a:t>
            </a:r>
          </a:p>
          <a:p>
            <a:pPr algn="l">
              <a:spcBef>
                <a:spcPts val="0"/>
              </a:spcBef>
              <a:spcAft>
                <a:spcPts val="800"/>
              </a:spcAft>
            </a:pPr>
            <a:r>
              <a:rPr sz="1400" b="1" i="0">
                <a:solidFill>
                  <a:srgbClr val="1C1915"/>
                </a:solidFill>
                <a:latin typeface="Calibri"/>
                <a:ea typeface="Calibri"/>
                <a:cs typeface="Calibri"/>
              </a:rPr>
              <a:t>Copilot, plus Node or a standalone install</a:t>
            </a:r>
          </a:p>
          <a:p>
            <a:pPr algn="l">
              <a:spcBef>
                <a:spcPts val="0"/>
              </a:spcBef>
              <a:spcAft>
                <a:spcPts val="0"/>
              </a:spcAft>
            </a:pPr>
            <a:r>
              <a:rPr sz="1400" b="0" i="0">
                <a:solidFill>
                  <a:srgbClr val="6B645C"/>
                </a:solidFill>
                <a:latin typeface="Calibri"/>
                <a:ea typeface="Calibri"/>
                <a:cs typeface="Calibri"/>
              </a:rPr>
              <a:t>A roster of specialists that lives in the repository.</a:t>
            </a:r>
          </a:p>
        </p:txBody>
      </p:sp>
      <p:sp>
        <p:nvSpPr>
          <p:cNvPr id="16" name="Rectangle 15"/>
          <p:cNvSpPr/>
          <p:nvPr/>
        </p:nvSpPr>
        <p:spPr>
          <a:xfrm>
            <a:off x="9015984" y="1691640"/>
            <a:ext cx="2651760" cy="3520440"/>
          </a:xfrm>
          <a:prstGeom prst="rect">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9015984" y="1691640"/>
            <a:ext cx="2651760" cy="6400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62288" y="1901952"/>
            <a:ext cx="2359152" cy="3474720"/>
          </a:xfrm>
          <a:prstGeom prst="rect">
            <a:avLst/>
          </a:prstGeom>
          <a:noFill/>
        </p:spPr>
        <p:txBody>
          <a:bodyPr wrap="square" lIns="0" tIns="0" rIns="0" bIns="0" anchor="t"/>
          <a:lstStyle/>
          <a:p>
            <a:pPr algn="l">
              <a:spcBef>
                <a:spcPts val="0"/>
              </a:spcBef>
              <a:spcAft>
                <a:spcPts val="800"/>
              </a:spcAft>
            </a:pPr>
            <a:r>
              <a:rPr sz="2000" b="1" i="0">
                <a:solidFill>
                  <a:srgbClr val="1C1915"/>
                </a:solidFill>
                <a:latin typeface="Calibri"/>
                <a:ea typeface="Calibri"/>
                <a:cs typeface="Calibri"/>
              </a:rPr>
              <a:t>Three files</a:t>
            </a:r>
          </a:p>
          <a:p>
            <a:pPr algn="l">
              <a:spcBef>
                <a:spcPts val="0"/>
              </a:spcBef>
              <a:spcAft>
                <a:spcPts val="0"/>
              </a:spcAft>
            </a:pPr>
            <a:r>
              <a:rPr sz="2600" b="1" i="0">
                <a:solidFill>
                  <a:srgbClr val="0E4B48"/>
                </a:solidFill>
                <a:latin typeface="Calibri"/>
                <a:ea typeface="Calibri"/>
                <a:cs typeface="Calibri"/>
              </a:rPr>
              <a:t>3 files</a:t>
            </a:r>
          </a:p>
          <a:p>
            <a:pPr algn="l">
              <a:spcBef>
                <a:spcPts val="0"/>
              </a:spcBef>
              <a:spcAft>
                <a:spcPts val="1000"/>
              </a:spcAft>
            </a:pPr>
            <a:r>
              <a:rPr sz="1200" b="0" i="0">
                <a:solidFill>
                  <a:srgbClr val="6B645C"/>
                </a:solidFill>
                <a:latin typeface="Calibri"/>
                <a:ea typeface="Calibri"/>
                <a:cs typeface="Calibri"/>
              </a:rPr>
              <a:t>Context, Plan, Roadmap</a:t>
            </a:r>
          </a:p>
          <a:p>
            <a:pPr algn="l">
              <a:spcBef>
                <a:spcPts val="0"/>
              </a:spcBef>
              <a:spcAft>
                <a:spcPts val="400"/>
              </a:spcAft>
            </a:pPr>
            <a:r>
              <a:rPr sz="1400" b="0" i="0">
                <a:solidFill>
                  <a:srgbClr val="1C1915"/>
                </a:solidFill>
                <a:latin typeface="Calibri"/>
                <a:ea typeface="Calibri"/>
                <a:cs typeface="Calibri"/>
              </a:rPr>
              <a:t>No project installer</a:t>
            </a:r>
          </a:p>
          <a:p>
            <a:pPr algn="l">
              <a:spcBef>
                <a:spcPts val="0"/>
              </a:spcBef>
              <a:spcAft>
                <a:spcPts val="1200"/>
              </a:spcAft>
            </a:pPr>
            <a:r>
              <a:rPr sz="1300" b="0" i="0">
                <a:solidFill>
                  <a:srgbClr val="6B645C"/>
                </a:solidFill>
                <a:latin typeface="Calibri"/>
                <a:ea typeface="Calibri"/>
                <a:cs typeface="Calibri"/>
              </a:rPr>
              <a:t>Any harness that reads markdown</a:t>
            </a:r>
          </a:p>
          <a:p>
            <a:pPr algn="l">
              <a:spcBef>
                <a:spcPts val="0"/>
              </a:spcBef>
              <a:spcAft>
                <a:spcPts val="800"/>
              </a:spcAft>
            </a:pPr>
            <a:r>
              <a:rPr sz="1400" b="1" i="0">
                <a:solidFill>
                  <a:srgbClr val="1C1915"/>
                </a:solidFill>
                <a:latin typeface="Calibri"/>
                <a:ea typeface="Calibri"/>
                <a:cs typeface="Calibri"/>
              </a:rPr>
              <a:t>Pi is the example harness</a:t>
            </a:r>
          </a:p>
          <a:p>
            <a:pPr algn="l">
              <a:spcBef>
                <a:spcPts val="0"/>
              </a:spcBef>
              <a:spcAft>
                <a:spcPts val="0"/>
              </a:spcAft>
            </a:pPr>
            <a:r>
              <a:rPr sz="1400" b="0" i="0">
                <a:solidFill>
                  <a:srgbClr val="6B645C"/>
                </a:solidFill>
                <a:latin typeface="Calibri"/>
                <a:ea typeface="Calibri"/>
                <a:cs typeface="Calibri"/>
              </a:rPr>
              <a:t>112,833 stars. 15+ providers. Started 9 Aug 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4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SPEC KIT</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Specify the change, then build it</a:t>
            </a:r>
          </a:p>
        </p:txBody>
      </p:sp>
      <p:sp>
        <p:nvSpPr>
          <p:cNvPr id="7" name="Rounded Rectangle 6"/>
          <p:cNvSpPr/>
          <p:nvPr/>
        </p:nvSpPr>
        <p:spPr>
          <a:xfrm>
            <a:off x="566928" y="1371600"/>
            <a:ext cx="1978761"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1C1915"/>
                </a:solidFill>
                <a:latin typeface="Calibri"/>
                <a:ea typeface="Calibri"/>
                <a:cs typeface="Calibri"/>
              </a:rPr>
              <a:t>Specify</a:t>
            </a:r>
          </a:p>
        </p:txBody>
      </p:sp>
      <p:sp>
        <p:nvSpPr>
          <p:cNvPr id="8" name="TextBox 7"/>
          <p:cNvSpPr txBox="1"/>
          <p:nvPr/>
        </p:nvSpPr>
        <p:spPr>
          <a:xfrm>
            <a:off x="2545689"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9" name="Rounded Rectangle 8"/>
          <p:cNvSpPr/>
          <p:nvPr/>
        </p:nvSpPr>
        <p:spPr>
          <a:xfrm>
            <a:off x="2838297" y="1371600"/>
            <a:ext cx="1978761"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1C1915"/>
                </a:solidFill>
                <a:latin typeface="Calibri"/>
                <a:ea typeface="Calibri"/>
                <a:cs typeface="Calibri"/>
              </a:rPr>
              <a:t>Plan</a:t>
            </a:r>
          </a:p>
        </p:txBody>
      </p:sp>
      <p:sp>
        <p:nvSpPr>
          <p:cNvPr id="10" name="TextBox 9"/>
          <p:cNvSpPr txBox="1"/>
          <p:nvPr/>
        </p:nvSpPr>
        <p:spPr>
          <a:xfrm>
            <a:off x="4817059"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1" name="Rounded Rectangle 10"/>
          <p:cNvSpPr/>
          <p:nvPr/>
        </p:nvSpPr>
        <p:spPr>
          <a:xfrm>
            <a:off x="5109667" y="1371600"/>
            <a:ext cx="1978761"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1C1915"/>
                </a:solidFill>
                <a:latin typeface="Calibri"/>
                <a:ea typeface="Calibri"/>
                <a:cs typeface="Calibri"/>
              </a:rPr>
              <a:t>Tasks</a:t>
            </a:r>
          </a:p>
        </p:txBody>
      </p:sp>
      <p:sp>
        <p:nvSpPr>
          <p:cNvPr id="12" name="TextBox 11"/>
          <p:cNvSpPr txBox="1"/>
          <p:nvPr/>
        </p:nvSpPr>
        <p:spPr>
          <a:xfrm>
            <a:off x="7088428"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3" name="Rounded Rectangle 12"/>
          <p:cNvSpPr/>
          <p:nvPr/>
        </p:nvSpPr>
        <p:spPr>
          <a:xfrm>
            <a:off x="7381036" y="1371600"/>
            <a:ext cx="1978761"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1C1915"/>
                </a:solidFill>
                <a:latin typeface="Calibri"/>
                <a:ea typeface="Calibri"/>
                <a:cs typeface="Calibri"/>
              </a:rPr>
              <a:t>Implement</a:t>
            </a:r>
          </a:p>
        </p:txBody>
      </p:sp>
      <p:sp>
        <p:nvSpPr>
          <p:cNvPr id="14" name="TextBox 13"/>
          <p:cNvSpPr txBox="1"/>
          <p:nvPr/>
        </p:nvSpPr>
        <p:spPr>
          <a:xfrm>
            <a:off x="9359798"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5" name="Rounded Rectangle 14"/>
          <p:cNvSpPr/>
          <p:nvPr/>
        </p:nvSpPr>
        <p:spPr>
          <a:xfrm>
            <a:off x="9652406" y="1371600"/>
            <a:ext cx="1978761" cy="457200"/>
          </a:xfrm>
          <a:prstGeom prst="roundRect">
            <a:avLst>
              <a:gd name="adj" fmla="val 5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F6F3EC"/>
                </a:solidFill>
                <a:latin typeface="Calibri"/>
                <a:ea typeface="Calibri"/>
                <a:cs typeface="Calibri"/>
              </a:rPr>
              <a:t>Converge</a:t>
            </a:r>
          </a:p>
        </p:txBody>
      </p:sp>
      <p:sp>
        <p:nvSpPr>
          <p:cNvPr id="16" name="TextBox 15"/>
          <p:cNvSpPr txBox="1"/>
          <p:nvPr/>
        </p:nvSpPr>
        <p:spPr>
          <a:xfrm>
            <a:off x="566928" y="1938528"/>
            <a:ext cx="11064240" cy="310896"/>
          </a:xfrm>
          <a:prstGeom prst="rect">
            <a:avLst/>
          </a:prstGeom>
          <a:noFill/>
        </p:spPr>
        <p:txBody>
          <a:bodyPr wrap="square" lIns="0" tIns="0" rIns="0" bIns="0" anchor="t"/>
          <a:lstStyle/>
          <a:p>
            <a:pPr algn="l">
              <a:spcBef>
                <a:spcPts val="0"/>
              </a:spcBef>
              <a:spcAft>
                <a:spcPts val="0"/>
              </a:spcAft>
            </a:pPr>
            <a:r>
              <a:rPr sz="1500" b="0" i="1">
                <a:solidFill>
                  <a:srgbClr val="6B645C"/>
                </a:solidFill>
                <a:latin typeface="Calibri"/>
                <a:ea typeface="Calibri"/>
                <a:cs typeface="Calibri"/>
              </a:rPr>
              <a:t>Constitution once per project. Only if those principles are already true.</a:t>
            </a:r>
          </a:p>
        </p:txBody>
      </p:sp>
      <p:sp>
        <p:nvSpPr>
          <p:cNvPr id="17" name="TextBox 16"/>
          <p:cNvSpPr txBox="1"/>
          <p:nvPr/>
        </p:nvSpPr>
        <p:spPr>
          <a:xfrm>
            <a:off x="566928" y="2468880"/>
            <a:ext cx="11064240" cy="3108960"/>
          </a:xfrm>
          <a:prstGeom prst="rect">
            <a:avLst/>
          </a:prstGeom>
          <a:noFill/>
        </p:spPr>
        <p:txBody>
          <a:bodyPr wrap="square" lIns="0" tIns="0" rIns="0" bIns="0" anchor="t"/>
          <a:lstStyle/>
          <a:p>
            <a:pPr algn="l">
              <a:spcBef>
                <a:spcPts val="0"/>
              </a:spcBef>
              <a:spcAft>
                <a:spcPts val="0"/>
              </a:spcAft>
            </a:pPr>
            <a:r>
              <a:rPr sz="2000" b="0" i="0">
                <a:solidFill>
                  <a:srgbClr val="1C1915"/>
                </a:solidFill>
                <a:latin typeface="Calibri"/>
                <a:ea typeface="Calibri"/>
                <a:cs typeface="Calibri"/>
              </a:rPr>
              <a:t>Python 3.11+, uv, and one of 40 named agents. A generic integration covers the rest.</a:t>
            </a:r>
          </a:p>
          <a:p>
            <a:pPr algn="l">
              <a:spcBef>
                <a:spcPts val="1200"/>
              </a:spcBef>
              <a:spcAft>
                <a:spcPts val="0"/>
              </a:spcAft>
            </a:pPr>
            <a:r>
              <a:rPr sz="2000" b="0" i="0">
                <a:solidFill>
                  <a:srgbClr val="1C1915"/>
                </a:solidFill>
                <a:latin typeface="Calibri"/>
                <a:ea typeface="Calibri"/>
                <a:cs typeface="Calibri"/>
              </a:rPr>
              <a:t>Clarify, checklist, and analyze are extra gates. The core loop stands without them.</a:t>
            </a:r>
          </a:p>
          <a:p>
            <a:pPr algn="l">
              <a:spcBef>
                <a:spcPts val="1200"/>
              </a:spcBef>
              <a:spcAft>
                <a:spcPts val="0"/>
              </a:spcAft>
            </a:pPr>
            <a:r>
              <a:rPr sz="2000" b="0" i="0">
                <a:solidFill>
                  <a:srgbClr val="1C1915"/>
                </a:solidFill>
                <a:latin typeface="Calibri"/>
                <a:ea typeface="Calibri"/>
                <a:cs typeface="Calibri"/>
              </a:rPr>
              <a:t>On an existing codebase, the spec is the next change. Leave the rest of the system in the code.</a:t>
            </a:r>
          </a:p>
        </p:txBody>
      </p:sp>
      <p:sp>
        <p:nvSpPr>
          <p:cNvPr id="18" name="TextBox 17"/>
          <p:cNvSpPr txBox="1"/>
          <p:nvPr/>
        </p:nvSpPr>
        <p:spPr>
          <a:xfrm>
            <a:off x="566928" y="6053328"/>
            <a:ext cx="11064240" cy="329184"/>
          </a:xfrm>
          <a:prstGeom prst="rect">
            <a:avLst/>
          </a:prstGeom>
          <a:noFill/>
        </p:spPr>
        <p:txBody>
          <a:bodyPr wrap="square" lIns="0" tIns="0" rIns="0" bIns="0" anchor="ctr"/>
          <a:lstStyle/>
          <a:p>
            <a:pPr algn="l">
              <a:spcBef>
                <a:spcPts val="0"/>
              </a:spcBef>
              <a:spcAft>
                <a:spcPts val="0"/>
              </a:spcAft>
            </a:pPr>
            <a:r>
              <a:rPr sz="1400" b="0" i="0">
                <a:solidFill>
                  <a:srgbClr val="6B645C"/>
                </a:solidFill>
                <a:latin typeface="Calibri"/>
                <a:ea typeface="Calibri"/>
                <a:cs typeface="Calibri"/>
              </a:rPr>
              <a:t>Started 21 Aug 2025    ·    140,313 stars    ·    v1.1.0 on 2 Oct 2026    ·    MIT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5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BMAD</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Size the planning to the change</a:t>
            </a:r>
          </a:p>
        </p:txBody>
      </p:sp>
      <p:sp>
        <p:nvSpPr>
          <p:cNvPr id="7" name="Rounded Rectangle 6"/>
          <p:cNvSpPr/>
          <p:nvPr/>
        </p:nvSpPr>
        <p:spPr>
          <a:xfrm>
            <a:off x="566928" y="1371600"/>
            <a:ext cx="3493008"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1C1915"/>
                </a:solidFill>
                <a:latin typeface="Calibri"/>
                <a:ea typeface="Calibri"/>
                <a:cs typeface="Calibri"/>
              </a:rPr>
              <a:t>Clarify</a:t>
            </a:r>
          </a:p>
        </p:txBody>
      </p:sp>
      <p:sp>
        <p:nvSpPr>
          <p:cNvPr id="8" name="TextBox 7"/>
          <p:cNvSpPr txBox="1"/>
          <p:nvPr/>
        </p:nvSpPr>
        <p:spPr>
          <a:xfrm>
            <a:off x="4059935"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9" name="Rounded Rectangle 8"/>
          <p:cNvSpPr/>
          <p:nvPr/>
        </p:nvSpPr>
        <p:spPr>
          <a:xfrm>
            <a:off x="4352544" y="1371600"/>
            <a:ext cx="3493008"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1C1915"/>
                </a:solidFill>
                <a:latin typeface="Calibri"/>
                <a:ea typeface="Calibri"/>
                <a:cs typeface="Calibri"/>
              </a:rPr>
              <a:t>Plan</a:t>
            </a:r>
          </a:p>
        </p:txBody>
      </p:sp>
      <p:sp>
        <p:nvSpPr>
          <p:cNvPr id="10" name="TextBox 9"/>
          <p:cNvSpPr txBox="1"/>
          <p:nvPr/>
        </p:nvSpPr>
        <p:spPr>
          <a:xfrm>
            <a:off x="7845552"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1" name="Rounded Rectangle 10"/>
          <p:cNvSpPr/>
          <p:nvPr/>
        </p:nvSpPr>
        <p:spPr>
          <a:xfrm>
            <a:off x="8138159" y="1371600"/>
            <a:ext cx="3493008" cy="457200"/>
          </a:xfrm>
          <a:prstGeom prst="roundRect">
            <a:avLst>
              <a:gd name="adj" fmla="val 5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F6F3EC"/>
                </a:solidFill>
                <a:latin typeface="Calibri"/>
                <a:ea typeface="Calibri"/>
                <a:cs typeface="Calibri"/>
              </a:rPr>
              <a:t>Build and verify</a:t>
            </a:r>
          </a:p>
        </p:txBody>
      </p:sp>
      <p:sp>
        <p:nvSpPr>
          <p:cNvPr id="12" name="TextBox 11"/>
          <p:cNvSpPr txBox="1"/>
          <p:nvPr/>
        </p:nvSpPr>
        <p:spPr>
          <a:xfrm>
            <a:off x="566928" y="1938528"/>
            <a:ext cx="11064240" cy="310896"/>
          </a:xfrm>
          <a:prstGeom prst="rect">
            <a:avLst/>
          </a:prstGeom>
          <a:noFill/>
        </p:spPr>
        <p:txBody>
          <a:bodyPr wrap="square" lIns="0" tIns="0" rIns="0" bIns="0" anchor="t"/>
          <a:lstStyle/>
          <a:p>
            <a:pPr algn="l">
              <a:spcBef>
                <a:spcPts val="0"/>
              </a:spcBef>
              <a:spcAft>
                <a:spcPts val="0"/>
              </a:spcAft>
            </a:pPr>
            <a:r>
              <a:rPr sz="1500" b="0" i="1">
                <a:solidFill>
                  <a:srgbClr val="6B645C"/>
                </a:solidFill>
                <a:latin typeface="Calibri"/>
                <a:ea typeface="Calibri"/>
                <a:cs typeface="Calibri"/>
              </a:rPr>
              <a:t>Vague notion, big idea, or small change. Learn and adjust loops back to plan.</a:t>
            </a:r>
          </a:p>
        </p:txBody>
      </p:sp>
      <p:sp>
        <p:nvSpPr>
          <p:cNvPr id="13" name="TextBox 12"/>
          <p:cNvSpPr txBox="1"/>
          <p:nvPr/>
        </p:nvSpPr>
        <p:spPr>
          <a:xfrm>
            <a:off x="566928" y="2468880"/>
            <a:ext cx="11064240" cy="3108960"/>
          </a:xfrm>
          <a:prstGeom prst="rect">
            <a:avLst/>
          </a:prstGeom>
          <a:noFill/>
        </p:spPr>
        <p:txBody>
          <a:bodyPr wrap="square" lIns="0" tIns="0" rIns="0" bIns="0" anchor="t"/>
          <a:lstStyle/>
          <a:p>
            <a:pPr algn="l">
              <a:spcBef>
                <a:spcPts val="0"/>
              </a:spcBef>
              <a:spcAft>
                <a:spcPts val="0"/>
              </a:spcAft>
            </a:pPr>
            <a:r>
              <a:rPr sz="2000" b="0" i="0">
                <a:solidFill>
                  <a:srgbClr val="1C1915"/>
                </a:solidFill>
                <a:latin typeface="Calibri"/>
                <a:ea typeface="Calibri"/>
                <a:cs typeface="Calibri"/>
              </a:rPr>
              <a:t>Node, npm, and uv, plus a tool that loads skills. Claude and Codex have plugin marketplaces too.</a:t>
            </a:r>
          </a:p>
          <a:p>
            <a:pPr algn="l">
              <a:spcBef>
                <a:spcPts val="1200"/>
              </a:spcBef>
              <a:spcAft>
                <a:spcPts val="0"/>
              </a:spcAft>
            </a:pPr>
            <a:r>
              <a:rPr sz="2000" b="0" i="0">
                <a:solidFill>
                  <a:srgbClr val="1C1915"/>
                </a:solidFill>
                <a:latin typeface="Calibri"/>
                <a:ea typeface="Calibri"/>
                <a:cs typeface="Calibri"/>
              </a:rPr>
              <a:t>Small changes go straight to build. Open the PRD and architecture path when the change is actually large.</a:t>
            </a:r>
          </a:p>
          <a:p>
            <a:pPr algn="l">
              <a:spcBef>
                <a:spcPts val="1200"/>
              </a:spcBef>
              <a:spcAft>
                <a:spcPts val="0"/>
              </a:spcAft>
            </a:pPr>
            <a:r>
              <a:rPr sz="2000" b="0" i="0">
                <a:solidFill>
                  <a:srgbClr val="1C1915"/>
                </a:solidFill>
                <a:latin typeface="Calibri"/>
                <a:ea typeface="Calibri"/>
                <a:cs typeface="Calibri"/>
              </a:rPr>
              <a:t>Personas and party mode sit on top of the loop. One model voicing five personas shares a mind.</a:t>
            </a:r>
          </a:p>
        </p:txBody>
      </p:sp>
      <p:sp>
        <p:nvSpPr>
          <p:cNvPr id="14" name="TextBox 13"/>
          <p:cNvSpPr txBox="1"/>
          <p:nvPr/>
        </p:nvSpPr>
        <p:spPr>
          <a:xfrm>
            <a:off x="566928" y="6053328"/>
            <a:ext cx="11064240" cy="329184"/>
          </a:xfrm>
          <a:prstGeom prst="rect">
            <a:avLst/>
          </a:prstGeom>
          <a:noFill/>
        </p:spPr>
        <p:txBody>
          <a:bodyPr wrap="square" lIns="0" tIns="0" rIns="0" bIns="0" anchor="ctr"/>
          <a:lstStyle/>
          <a:p>
            <a:pPr algn="l">
              <a:spcBef>
                <a:spcPts val="0"/>
              </a:spcBef>
              <a:spcAft>
                <a:spcPts val="0"/>
              </a:spcAft>
            </a:pPr>
            <a:r>
              <a:rPr sz="1400" b="0" i="0">
                <a:solidFill>
                  <a:srgbClr val="6B645C"/>
                </a:solidFill>
                <a:latin typeface="Calibri"/>
                <a:ea typeface="Calibri"/>
                <a:cs typeface="Calibri"/>
              </a:rPr>
              <a:t>Started 13 Apr 2025    ·    53,827 stars    ·    v6.12.1 on 4 Oct 2026    ·    MIT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6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SQUAD</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A Copilot roster in the repo</a:t>
            </a:r>
          </a:p>
        </p:txBody>
      </p:sp>
      <p:sp>
        <p:nvSpPr>
          <p:cNvPr id="7" name="Rounded Rectangle 6"/>
          <p:cNvSpPr/>
          <p:nvPr/>
        </p:nvSpPr>
        <p:spPr>
          <a:xfrm>
            <a:off x="566928" y="1371600"/>
            <a:ext cx="2546604"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1C1915"/>
                </a:solidFill>
                <a:latin typeface="Calibri"/>
                <a:ea typeface="Calibri"/>
                <a:cs typeface="Calibri"/>
              </a:rPr>
              <a:t>Discover</a:t>
            </a:r>
          </a:p>
        </p:txBody>
      </p:sp>
      <p:sp>
        <p:nvSpPr>
          <p:cNvPr id="8" name="TextBox 7"/>
          <p:cNvSpPr txBox="1"/>
          <p:nvPr/>
        </p:nvSpPr>
        <p:spPr>
          <a:xfrm>
            <a:off x="3113532"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9" name="Rounded Rectangle 8"/>
          <p:cNvSpPr/>
          <p:nvPr/>
        </p:nvSpPr>
        <p:spPr>
          <a:xfrm>
            <a:off x="3406140" y="1371600"/>
            <a:ext cx="2546604"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1C1915"/>
                </a:solidFill>
                <a:latin typeface="Calibri"/>
                <a:ea typeface="Calibri"/>
                <a:cs typeface="Calibri"/>
              </a:rPr>
              <a:t>Propose a roster</a:t>
            </a:r>
          </a:p>
        </p:txBody>
      </p:sp>
      <p:sp>
        <p:nvSpPr>
          <p:cNvPr id="10" name="TextBox 9"/>
          <p:cNvSpPr txBox="1"/>
          <p:nvPr/>
        </p:nvSpPr>
        <p:spPr>
          <a:xfrm>
            <a:off x="5952744"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1" name="Rounded Rectangle 10"/>
          <p:cNvSpPr/>
          <p:nvPr/>
        </p:nvSpPr>
        <p:spPr>
          <a:xfrm>
            <a:off x="6245352" y="1371600"/>
            <a:ext cx="2546604" cy="45720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1C1915"/>
                </a:solidFill>
                <a:latin typeface="Calibri"/>
                <a:ea typeface="Calibri"/>
                <a:cs typeface="Calibri"/>
              </a:rPr>
              <a:t>Spawn a role</a:t>
            </a:r>
          </a:p>
        </p:txBody>
      </p:sp>
      <p:sp>
        <p:nvSpPr>
          <p:cNvPr id="12" name="TextBox 11"/>
          <p:cNvSpPr txBox="1"/>
          <p:nvPr/>
        </p:nvSpPr>
        <p:spPr>
          <a:xfrm>
            <a:off x="8791956" y="1371600"/>
            <a:ext cx="292608" cy="45720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3" name="Rounded Rectangle 12"/>
          <p:cNvSpPr/>
          <p:nvPr/>
        </p:nvSpPr>
        <p:spPr>
          <a:xfrm>
            <a:off x="9084563" y="1371600"/>
            <a:ext cx="2546604" cy="457200"/>
          </a:xfrm>
          <a:prstGeom prst="roundRect">
            <a:avLst>
              <a:gd name="adj" fmla="val 5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500" b="1" i="0">
                <a:solidFill>
                  <a:srgbClr val="F6F3EC"/>
                </a:solidFill>
                <a:latin typeface="Calibri"/>
                <a:ea typeface="Calibri"/>
                <a:cs typeface="Calibri"/>
              </a:rPr>
              <a:t>Human reviews</a:t>
            </a:r>
          </a:p>
        </p:txBody>
      </p:sp>
      <p:sp>
        <p:nvSpPr>
          <p:cNvPr id="14" name="TextBox 13"/>
          <p:cNvSpPr txBox="1"/>
          <p:nvPr/>
        </p:nvSpPr>
        <p:spPr>
          <a:xfrm>
            <a:off x="566928" y="1938528"/>
            <a:ext cx="11064240" cy="310896"/>
          </a:xfrm>
          <a:prstGeom prst="rect">
            <a:avLst/>
          </a:prstGeom>
          <a:noFill/>
        </p:spPr>
        <p:txBody>
          <a:bodyPr wrap="square" lIns="0" tIns="0" rIns="0" bIns="0" anchor="t"/>
          <a:lstStyle/>
          <a:p>
            <a:pPr algn="l">
              <a:spcBef>
                <a:spcPts val="0"/>
              </a:spcBef>
              <a:spcAft>
                <a:spcPts val="0"/>
              </a:spcAft>
            </a:pPr>
            <a:r>
              <a:rPr sz="1500" b="0" i="1">
                <a:solidFill>
                  <a:srgbClr val="6B645C"/>
                </a:solidFill>
                <a:latin typeface="Calibri"/>
                <a:ea typeface="Calibri"/>
                <a:cs typeface="Calibri"/>
              </a:rPr>
              <a:t>The roster lives in .squad/. Charters, decisions, and history are files.</a:t>
            </a:r>
          </a:p>
        </p:txBody>
      </p:sp>
      <p:sp>
        <p:nvSpPr>
          <p:cNvPr id="15" name="TextBox 14"/>
          <p:cNvSpPr txBox="1"/>
          <p:nvPr/>
        </p:nvSpPr>
        <p:spPr>
          <a:xfrm>
            <a:off x="566928" y="2468880"/>
            <a:ext cx="11064240" cy="3108960"/>
          </a:xfrm>
          <a:prstGeom prst="rect">
            <a:avLst/>
          </a:prstGeom>
          <a:noFill/>
        </p:spPr>
        <p:txBody>
          <a:bodyPr wrap="square" lIns="0" tIns="0" rIns="0" bIns="0" anchor="t"/>
          <a:lstStyle/>
          <a:p>
            <a:pPr algn="l">
              <a:spcBef>
                <a:spcPts val="0"/>
              </a:spcBef>
              <a:spcAft>
                <a:spcPts val="0"/>
              </a:spcAft>
            </a:pPr>
            <a:r>
              <a:rPr sz="2000" b="0" i="0">
                <a:solidFill>
                  <a:srgbClr val="1C1915"/>
                </a:solidFill>
                <a:latin typeface="Calibri"/>
                <a:ea typeface="Calibri"/>
                <a:cs typeface="Calibri"/>
              </a:rPr>
              <a:t>Each member has its own context. The charter is compiled into the system prompt.</a:t>
            </a:r>
          </a:p>
          <a:p>
            <a:pPr algn="l">
              <a:spcBef>
                <a:spcPts val="1200"/>
              </a:spcBef>
              <a:spcAft>
                <a:spcPts val="0"/>
              </a:spcAft>
            </a:pPr>
            <a:r>
              <a:rPr sz="2000" b="0" i="0">
                <a:solidFill>
                  <a:srgbClr val="1C1915"/>
                </a:solidFill>
                <a:latin typeface="Calibri"/>
                <a:ea typeface="Calibri"/>
                <a:cs typeface="Calibri"/>
              </a:rPr>
              <a:t>A tester role is that prompt. Separate context helps. The job title leaves the model as it was.</a:t>
            </a:r>
          </a:p>
          <a:p>
            <a:pPr algn="l">
              <a:spcBef>
                <a:spcPts val="1200"/>
              </a:spcBef>
              <a:spcAft>
                <a:spcPts val="0"/>
              </a:spcAft>
            </a:pPr>
            <a:r>
              <a:rPr sz="2000" b="0" i="0">
                <a:solidFill>
                  <a:srgbClr val="1C1915"/>
                </a:solidFill>
                <a:latin typeface="Calibri"/>
                <a:ea typeface="Calibri"/>
                <a:cs typeface="Calibri"/>
              </a:rPr>
              <a:t>GitHub Copilot, plus their CLI. npm wants Node 22.5+. The standalone install vendors Node.</a:t>
            </a:r>
          </a:p>
        </p:txBody>
      </p:sp>
      <p:sp>
        <p:nvSpPr>
          <p:cNvPr id="16" name="TextBox 15"/>
          <p:cNvSpPr txBox="1"/>
          <p:nvPr/>
        </p:nvSpPr>
        <p:spPr>
          <a:xfrm>
            <a:off x="566928" y="6053328"/>
            <a:ext cx="11064240" cy="329184"/>
          </a:xfrm>
          <a:prstGeom prst="rect">
            <a:avLst/>
          </a:prstGeom>
          <a:noFill/>
        </p:spPr>
        <p:txBody>
          <a:bodyPr wrap="square" lIns="0" tIns="0" rIns="0" bIns="0" anchor="ctr"/>
          <a:lstStyle/>
          <a:p>
            <a:pPr algn="l">
              <a:spcBef>
                <a:spcPts val="0"/>
              </a:spcBef>
              <a:spcAft>
                <a:spcPts val="0"/>
              </a:spcAft>
            </a:pPr>
            <a:r>
              <a:rPr sz="1400" b="0" i="0">
                <a:solidFill>
                  <a:srgbClr val="6B645C"/>
                </a:solidFill>
                <a:latin typeface="Calibri"/>
                <a:ea typeface="Calibri"/>
                <a:cs typeface="Calibri"/>
              </a:rPr>
              <a:t>Started 6 Feb 2026    ·    3,251 stars    ·    v1.0.1 on 4 Oct 2026    ·    MIT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7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THREE FILES</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Context, plan, roadmap</a:t>
            </a:r>
          </a:p>
        </p:txBody>
      </p:sp>
      <p:sp>
        <p:nvSpPr>
          <p:cNvPr id="7" name="Rounded Rectangle 6"/>
          <p:cNvSpPr/>
          <p:nvPr/>
        </p:nvSpPr>
        <p:spPr>
          <a:xfrm>
            <a:off x="566928" y="1371600"/>
            <a:ext cx="3493008" cy="475488"/>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1C1915"/>
                </a:solidFill>
                <a:latin typeface="Calibri"/>
                <a:ea typeface="Calibri"/>
                <a:cs typeface="Calibri"/>
              </a:rPr>
              <a:t>Context.md</a:t>
            </a:r>
          </a:p>
        </p:txBody>
      </p:sp>
      <p:sp>
        <p:nvSpPr>
          <p:cNvPr id="8" name="TextBox 7"/>
          <p:cNvSpPr txBox="1"/>
          <p:nvPr/>
        </p:nvSpPr>
        <p:spPr>
          <a:xfrm>
            <a:off x="4059935" y="1371600"/>
            <a:ext cx="292608" cy="475488"/>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9" name="Rounded Rectangle 8"/>
          <p:cNvSpPr/>
          <p:nvPr/>
        </p:nvSpPr>
        <p:spPr>
          <a:xfrm>
            <a:off x="4352544" y="1371600"/>
            <a:ext cx="3493008" cy="475488"/>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1C1915"/>
                </a:solidFill>
                <a:latin typeface="Calibri"/>
                <a:ea typeface="Calibri"/>
                <a:cs typeface="Calibri"/>
              </a:rPr>
              <a:t>Plan.md</a:t>
            </a:r>
          </a:p>
        </p:txBody>
      </p:sp>
      <p:sp>
        <p:nvSpPr>
          <p:cNvPr id="10" name="TextBox 9"/>
          <p:cNvSpPr txBox="1"/>
          <p:nvPr/>
        </p:nvSpPr>
        <p:spPr>
          <a:xfrm>
            <a:off x="7845552" y="1371600"/>
            <a:ext cx="292608" cy="475488"/>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1" name="Rounded Rectangle 10"/>
          <p:cNvSpPr/>
          <p:nvPr/>
        </p:nvSpPr>
        <p:spPr>
          <a:xfrm>
            <a:off x="8138159" y="1371600"/>
            <a:ext cx="3493008" cy="475488"/>
          </a:xfrm>
          <a:prstGeom prst="roundRect">
            <a:avLst>
              <a:gd name="adj" fmla="val 5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F6F3EC"/>
                </a:solidFill>
                <a:latin typeface="Calibri"/>
                <a:ea typeface="Calibri"/>
                <a:cs typeface="Calibri"/>
              </a:rPr>
              <a:t>Roadmap.md</a:t>
            </a:r>
          </a:p>
        </p:txBody>
      </p:sp>
      <p:sp>
        <p:nvSpPr>
          <p:cNvPr id="12" name="TextBox 11"/>
          <p:cNvSpPr txBox="1"/>
          <p:nvPr/>
        </p:nvSpPr>
        <p:spPr>
          <a:xfrm>
            <a:off x="566928" y="1975104"/>
            <a:ext cx="11064240" cy="310896"/>
          </a:xfrm>
          <a:prstGeom prst="rect">
            <a:avLst/>
          </a:prstGeom>
          <a:noFill/>
        </p:spPr>
        <p:txBody>
          <a:bodyPr wrap="square" lIns="0" tIns="0" rIns="0" bIns="0" anchor="t"/>
          <a:lstStyle/>
          <a:p>
            <a:pPr algn="l">
              <a:spcBef>
                <a:spcPts val="0"/>
              </a:spcBef>
              <a:spcAft>
                <a:spcPts val="0"/>
              </a:spcAft>
            </a:pPr>
            <a:r>
              <a:rPr sz="1500" b="0" i="1">
                <a:solidFill>
                  <a:srgbClr val="6B645C"/>
                </a:solidFill>
                <a:latin typeface="Calibri"/>
                <a:ea typeface="Calibri"/>
                <a:cs typeface="Calibri"/>
              </a:rPr>
              <a:t>Mark the item done. Fold anything still true next month back into context.</a:t>
            </a:r>
          </a:p>
        </p:txBody>
      </p:sp>
      <p:sp>
        <p:nvSpPr>
          <p:cNvPr id="13" name="Rounded Rectangle 12"/>
          <p:cNvSpPr/>
          <p:nvPr/>
        </p:nvSpPr>
        <p:spPr>
          <a:xfrm>
            <a:off x="566928" y="2468880"/>
            <a:ext cx="3566160" cy="22402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1200"/>
              </a:spcAft>
            </a:pPr>
            <a:r>
              <a:rPr sz="2200" b="1" i="0">
                <a:solidFill>
                  <a:srgbClr val="0E4B48"/>
                </a:solidFill>
                <a:latin typeface="Calibri"/>
                <a:ea typeface="Calibri"/>
                <a:cs typeface="Calibri"/>
              </a:rPr>
              <a:t>Context.md</a:t>
            </a:r>
          </a:p>
          <a:p>
            <a:pPr algn="l">
              <a:spcBef>
                <a:spcPts val="0"/>
              </a:spcBef>
              <a:spcAft>
                <a:spcPts val="0"/>
              </a:spcAft>
            </a:pPr>
            <a:r>
              <a:rPr sz="1600" b="0" i="0">
                <a:solidFill>
                  <a:srgbClr val="1C1915"/>
                </a:solidFill>
                <a:latin typeface="Calibri"/>
                <a:ea typeface="Calibri"/>
                <a:cs typeface="Calibri"/>
              </a:rPr>
              <a:t>Durable facts only. Stack, conventions, domain terms, constraints. Kept short.</a:t>
            </a:r>
          </a:p>
        </p:txBody>
      </p:sp>
      <p:sp>
        <p:nvSpPr>
          <p:cNvPr id="14" name="Rounded Rectangle 13"/>
          <p:cNvSpPr/>
          <p:nvPr/>
        </p:nvSpPr>
        <p:spPr>
          <a:xfrm>
            <a:off x="4315968" y="2468880"/>
            <a:ext cx="3566160" cy="22402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1200"/>
              </a:spcAft>
            </a:pPr>
            <a:r>
              <a:rPr sz="2200" b="1" i="0">
                <a:solidFill>
                  <a:srgbClr val="0E4B48"/>
                </a:solidFill>
                <a:latin typeface="Calibri"/>
                <a:ea typeface="Calibri"/>
                <a:cs typeface="Calibri"/>
              </a:rPr>
              <a:t>Plan.md</a:t>
            </a:r>
          </a:p>
          <a:p>
            <a:pPr algn="l">
              <a:spcBef>
                <a:spcPts val="0"/>
              </a:spcBef>
              <a:spcAft>
                <a:spcPts val="0"/>
              </a:spcAft>
            </a:pPr>
            <a:r>
              <a:rPr sz="1600" b="0" i="0">
                <a:solidFill>
                  <a:srgbClr val="1C1915"/>
                </a:solidFill>
                <a:latin typeface="Calibri"/>
                <a:ea typeface="Calibri"/>
                <a:cs typeface="Calibri"/>
              </a:rPr>
              <a:t>The current change. What, why, acceptance, approach, and out of scope.</a:t>
            </a:r>
          </a:p>
        </p:txBody>
      </p:sp>
      <p:sp>
        <p:nvSpPr>
          <p:cNvPr id="15" name="Rounded Rectangle 14"/>
          <p:cNvSpPr/>
          <p:nvPr/>
        </p:nvSpPr>
        <p:spPr>
          <a:xfrm>
            <a:off x="8065007" y="2468880"/>
            <a:ext cx="3566160" cy="22402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1200"/>
              </a:spcAft>
            </a:pPr>
            <a:r>
              <a:rPr sz="2200" b="1" i="0">
                <a:solidFill>
                  <a:srgbClr val="0E4B48"/>
                </a:solidFill>
                <a:latin typeface="Calibri"/>
                <a:ea typeface="Calibri"/>
                <a:cs typeface="Calibri"/>
              </a:rPr>
              <a:t>Roadmap.md</a:t>
            </a:r>
          </a:p>
          <a:p>
            <a:pPr algn="l">
              <a:spcBef>
                <a:spcPts val="0"/>
              </a:spcBef>
              <a:spcAft>
                <a:spcPts val="0"/>
              </a:spcAft>
            </a:pPr>
            <a:r>
              <a:rPr sz="1600" b="0" i="0">
                <a:solidFill>
                  <a:srgbClr val="1C1915"/>
                </a:solidFill>
                <a:latin typeface="Calibri"/>
                <a:ea typeface="Calibri"/>
                <a:cs typeface="Calibri"/>
              </a:rPr>
              <a:t>Phases and items with status. Updated when an item is actually done.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8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CONDITIONS</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Greenfield and brownfield</a:t>
            </a:r>
          </a:p>
        </p:txBody>
      </p:sp>
      <p:sp>
        <p:nvSpPr>
          <p:cNvPr id="7" name="Rounded Rectangle 6"/>
          <p:cNvSpPr/>
          <p:nvPr/>
        </p:nvSpPr>
        <p:spPr>
          <a:xfrm>
            <a:off x="566928" y="1371600"/>
            <a:ext cx="5486400" cy="2468880"/>
          </a:xfrm>
          <a:prstGeom prst="roundRect">
            <a:avLst>
              <a:gd name="adj" fmla="val 6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spcBef>
                <a:spcPts val="0"/>
              </a:spcBef>
              <a:spcAft>
                <a:spcPts val="800"/>
              </a:spcAft>
            </a:pPr>
            <a:r>
              <a:rPr sz="1400" b="1" i="0">
                <a:solidFill>
                  <a:srgbClr val="0E4B48"/>
                </a:solidFill>
                <a:latin typeface="Calibri"/>
                <a:ea typeface="Calibri"/>
                <a:cs typeface="Calibri"/>
              </a:rPr>
              <a:t>Greenfield</a:t>
            </a:r>
          </a:p>
          <a:p>
            <a:pPr algn="l">
              <a:spcBef>
                <a:spcPts val="0"/>
              </a:spcBef>
              <a:spcAft>
                <a:spcPts val="1000"/>
              </a:spcAft>
            </a:pPr>
            <a:r>
              <a:rPr sz="2000" b="1" i="0">
                <a:solidFill>
                  <a:srgbClr val="1C1915"/>
                </a:solidFill>
                <a:latin typeface="Calibri"/>
                <a:ea typeface="Calibri"/>
                <a:cs typeface="Calibri"/>
              </a:rPr>
              <a:t>Write decisions down as you make them.</a:t>
            </a:r>
          </a:p>
          <a:p>
            <a:pPr algn="l">
              <a:spcBef>
                <a:spcPts val="0"/>
              </a:spcBef>
              <a:spcAft>
                <a:spcPts val="0"/>
              </a:spcAft>
            </a:pPr>
            <a:r>
              <a:rPr sz="1600" b="0" i="0">
                <a:solidFill>
                  <a:srgbClr val="1C1915"/>
                </a:solidFill>
                <a:latin typeface="Calibri"/>
                <a:ea typeface="Calibri"/>
                <a:cs typeface="Calibri"/>
              </a:rPr>
              <a:t>Spec Kit starts at specify. BMAD plans a big idea and builds a small change. Squad proposes a team from the description. The three files grow as decisions stick.</a:t>
            </a:r>
          </a:p>
        </p:txBody>
      </p:sp>
      <p:sp>
        <p:nvSpPr>
          <p:cNvPr id="8" name="Rounded Rectangle 7"/>
          <p:cNvSpPr/>
          <p:nvPr/>
        </p:nvSpPr>
        <p:spPr>
          <a:xfrm>
            <a:off x="6236208" y="1371600"/>
            <a:ext cx="5394960" cy="2468880"/>
          </a:xfrm>
          <a:prstGeom prst="roundRect">
            <a:avLst>
              <a:gd name="adj" fmla="val 6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spcBef>
                <a:spcPts val="0"/>
              </a:spcBef>
              <a:spcAft>
                <a:spcPts val="800"/>
              </a:spcAft>
            </a:pPr>
            <a:r>
              <a:rPr sz="1400" b="1" i="0">
                <a:solidFill>
                  <a:srgbClr val="0E4B48"/>
                </a:solidFill>
                <a:latin typeface="Calibri"/>
                <a:ea typeface="Calibri"/>
                <a:cs typeface="Calibri"/>
              </a:rPr>
              <a:t>Brownfield</a:t>
            </a:r>
          </a:p>
          <a:p>
            <a:pPr algn="l">
              <a:spcBef>
                <a:spcPts val="0"/>
              </a:spcBef>
              <a:spcAft>
                <a:spcPts val="1000"/>
              </a:spcAft>
            </a:pPr>
            <a:r>
              <a:rPr sz="2000" b="1" i="0">
                <a:solidFill>
                  <a:srgbClr val="1C1915"/>
                </a:solidFill>
                <a:latin typeface="Calibri"/>
                <a:ea typeface="Calibri"/>
                <a:cs typeface="Calibri"/>
              </a:rPr>
              <a:t>The code already holds the system.</a:t>
            </a:r>
          </a:p>
          <a:p>
            <a:pPr algn="l">
              <a:spcBef>
                <a:spcPts val="0"/>
              </a:spcBef>
              <a:spcAft>
                <a:spcPts val="0"/>
              </a:spcAft>
            </a:pPr>
            <a:r>
              <a:rPr sz="1600" b="0" i="0">
                <a:solidFill>
                  <a:srgbClr val="1C1915"/>
                </a:solidFill>
                <a:latin typeface="Calibri"/>
                <a:ea typeface="Calibri"/>
                <a:cs typeface="Calibri"/>
              </a:rPr>
              <a:t>Spec Kit specs the next slice. BMAD warns against restating what the agent can read. The three files verify a short context and plan the change.</a:t>
            </a:r>
          </a:p>
        </p:txBody>
      </p:sp>
      <p:sp>
        <p:nvSpPr>
          <p:cNvPr id="9" name="TextBox 8"/>
          <p:cNvSpPr txBox="1"/>
          <p:nvPr/>
        </p:nvSpPr>
        <p:spPr>
          <a:xfrm>
            <a:off x="566928" y="4069080"/>
            <a:ext cx="11064240" cy="822960"/>
          </a:xfrm>
          <a:prstGeom prst="rect">
            <a:avLst/>
          </a:prstGeom>
          <a:noFill/>
        </p:spPr>
        <p:txBody>
          <a:bodyPr wrap="square" lIns="0" tIns="0" rIns="0" bIns="0" anchor="t"/>
          <a:lstStyle/>
          <a:p>
            <a:pPr algn="l">
              <a:spcBef>
                <a:spcPts val="0"/>
              </a:spcBef>
              <a:spcAft>
                <a:spcPts val="0"/>
              </a:spcAft>
            </a:pPr>
            <a:r>
              <a:rPr sz="1500" b="0" i="0">
                <a:solidFill>
                  <a:srgbClr val="6B645C"/>
                </a:solidFill>
                <a:latin typeface="Calibri"/>
                <a:ea typeface="Calibri"/>
                <a:cs typeface="Calibri"/>
              </a:rPr>
              <a:t>Shared commands → Spec Kit.     Optional depth → BMAD.     Already on Copilot → Squad.     You will keep three files true → stay with the files.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TextBox 1"/>
          <p:cNvSpPr txBox="1"/>
          <p:nvPr/>
        </p:nvSpPr>
        <p:spPr>
          <a:xfrm>
            <a:off x="256032" y="109728"/>
            <a:ext cx="7315200" cy="347472"/>
          </a:xfrm>
          <a:prstGeom prst="rect">
            <a:avLst/>
          </a:prstGeom>
          <a:noFill/>
        </p:spPr>
        <p:txBody>
          <a:bodyPr wrap="square" lIns="0" tIns="0" rIns="0" bIns="0" anchor="t"/>
          <a:lstStyle/>
          <a:p>
            <a:pPr algn="l">
              <a:spcBef>
                <a:spcPts val="0"/>
              </a:spcBef>
              <a:spcAft>
                <a:spcPts val="0"/>
              </a:spcAft>
            </a:pPr>
            <a:r>
              <a:rPr sz="2200" b="1" i="0">
                <a:solidFill>
                  <a:srgbClr val="1C1915"/>
                </a:solidFill>
                <a:latin typeface="Calibri"/>
                <a:ea typeface="Calibri"/>
                <a:cs typeface="Calibri"/>
              </a:rPr>
              <a:t>Side by side</a:t>
            </a:r>
          </a:p>
        </p:txBody>
      </p:sp>
      <p:sp>
        <p:nvSpPr>
          <p:cNvPr id="3" name="TextBox 2"/>
          <p:cNvSpPr txBox="1"/>
          <p:nvPr/>
        </p:nvSpPr>
        <p:spPr>
          <a:xfrm>
            <a:off x="9418320" y="164592"/>
            <a:ext cx="2514600" cy="256032"/>
          </a:xfrm>
          <a:prstGeom prst="rect">
            <a:avLst/>
          </a:prstGeom>
          <a:noFill/>
        </p:spPr>
        <p:txBody>
          <a:bodyPr wrap="square" lIns="0" tIns="0" rIns="0" bIns="0" anchor="t"/>
          <a:lstStyle/>
          <a:p>
            <a:pPr algn="r">
              <a:spcBef>
                <a:spcPts val="0"/>
              </a:spcBef>
              <a:spcAft>
                <a:spcPts val="0"/>
              </a:spcAft>
            </a:pPr>
            <a:r>
              <a:rPr sz="1200" b="0" i="0">
                <a:solidFill>
                  <a:srgbClr val="6B645C"/>
                </a:solidFill>
                <a:latin typeface="Calibri"/>
                <a:ea typeface="Calibri"/>
                <a:cs typeface="Calibri"/>
              </a:rPr>
              <a:t>9  /  20</a:t>
            </a:r>
          </a:p>
        </p:txBody>
      </p:sp>
      <p:sp>
        <p:nvSpPr>
          <p:cNvPr id="4" name="Rectangle 3"/>
          <p:cNvSpPr/>
          <p:nvPr/>
        </p:nvSpPr>
        <p:spPr>
          <a:xfrm>
            <a:off x="201168" y="530352"/>
            <a:ext cx="1481328" cy="38404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endParaRPr/>
          </a:p>
        </p:txBody>
      </p:sp>
      <p:sp>
        <p:nvSpPr>
          <p:cNvPr id="5" name="Rectangle 4"/>
          <p:cNvSpPr/>
          <p:nvPr/>
        </p:nvSpPr>
        <p:spPr>
          <a:xfrm>
            <a:off x="1682496" y="530352"/>
            <a:ext cx="2577007" cy="38404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300" b="1" i="0">
                <a:solidFill>
                  <a:srgbClr val="F6F3EC"/>
                </a:solidFill>
                <a:latin typeface="Calibri"/>
                <a:ea typeface="Calibri"/>
                <a:cs typeface="Calibri"/>
              </a:rPr>
              <a:t>Spec Kit</a:t>
            </a:r>
          </a:p>
        </p:txBody>
      </p:sp>
      <p:sp>
        <p:nvSpPr>
          <p:cNvPr id="6" name="Rectangle 5"/>
          <p:cNvSpPr/>
          <p:nvPr/>
        </p:nvSpPr>
        <p:spPr>
          <a:xfrm>
            <a:off x="4259503" y="530352"/>
            <a:ext cx="2577007" cy="38404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300" b="1" i="0">
                <a:solidFill>
                  <a:srgbClr val="F6F3EC"/>
                </a:solidFill>
                <a:latin typeface="Calibri"/>
                <a:ea typeface="Calibri"/>
                <a:cs typeface="Calibri"/>
              </a:rPr>
              <a:t>BMAD</a:t>
            </a:r>
          </a:p>
        </p:txBody>
      </p:sp>
      <p:sp>
        <p:nvSpPr>
          <p:cNvPr id="7" name="Rectangle 6"/>
          <p:cNvSpPr/>
          <p:nvPr/>
        </p:nvSpPr>
        <p:spPr>
          <a:xfrm>
            <a:off x="6836511" y="530352"/>
            <a:ext cx="2577007" cy="38404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300" b="1" i="0">
                <a:solidFill>
                  <a:srgbClr val="F6F3EC"/>
                </a:solidFill>
                <a:latin typeface="Calibri"/>
                <a:ea typeface="Calibri"/>
                <a:cs typeface="Calibri"/>
              </a:rPr>
              <a:t>Squad</a:t>
            </a:r>
          </a:p>
        </p:txBody>
      </p:sp>
      <p:sp>
        <p:nvSpPr>
          <p:cNvPr id="8" name="Rectangle 7"/>
          <p:cNvSpPr/>
          <p:nvPr/>
        </p:nvSpPr>
        <p:spPr>
          <a:xfrm>
            <a:off x="9413519" y="530352"/>
            <a:ext cx="2577007" cy="384048"/>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300" b="1" i="0">
                <a:solidFill>
                  <a:srgbClr val="F6F3EC"/>
                </a:solidFill>
                <a:latin typeface="Calibri"/>
                <a:ea typeface="Calibri"/>
                <a:cs typeface="Calibri"/>
              </a:rPr>
              <a:t>Three files</a:t>
            </a:r>
          </a:p>
        </p:txBody>
      </p:sp>
      <p:sp>
        <p:nvSpPr>
          <p:cNvPr id="9" name="Rectangle 8"/>
          <p:cNvSpPr/>
          <p:nvPr/>
        </p:nvSpPr>
        <p:spPr>
          <a:xfrm>
            <a:off x="201168" y="914400"/>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Unit of work</a:t>
            </a:r>
          </a:p>
        </p:txBody>
      </p:sp>
      <p:sp>
        <p:nvSpPr>
          <p:cNvPr id="10" name="Rectangle 9"/>
          <p:cNvSpPr/>
          <p:nvPr/>
        </p:nvSpPr>
        <p:spPr>
          <a:xfrm>
            <a:off x="1682496" y="914400"/>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A feature</a:t>
            </a:r>
          </a:p>
        </p:txBody>
      </p:sp>
      <p:sp>
        <p:nvSpPr>
          <p:cNvPr id="11" name="Rectangle 10"/>
          <p:cNvSpPr/>
          <p:nvPr/>
        </p:nvSpPr>
        <p:spPr>
          <a:xfrm>
            <a:off x="4259503" y="914400"/>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A sized change</a:t>
            </a:r>
          </a:p>
        </p:txBody>
      </p:sp>
      <p:sp>
        <p:nvSpPr>
          <p:cNvPr id="12" name="Rectangle 11"/>
          <p:cNvSpPr/>
          <p:nvPr/>
        </p:nvSpPr>
        <p:spPr>
          <a:xfrm>
            <a:off x="6836511" y="914400"/>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A task for a role</a:t>
            </a:r>
          </a:p>
        </p:txBody>
      </p:sp>
      <p:sp>
        <p:nvSpPr>
          <p:cNvPr id="13" name="Rectangle 12"/>
          <p:cNvSpPr/>
          <p:nvPr/>
        </p:nvSpPr>
        <p:spPr>
          <a:xfrm>
            <a:off x="9413519" y="914400"/>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One change</a:t>
            </a:r>
          </a:p>
        </p:txBody>
      </p:sp>
      <p:sp>
        <p:nvSpPr>
          <p:cNvPr id="14" name="Rectangle 13"/>
          <p:cNvSpPr/>
          <p:nvPr/>
        </p:nvSpPr>
        <p:spPr>
          <a:xfrm>
            <a:off x="201168" y="1558544"/>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Artifacts</a:t>
            </a:r>
          </a:p>
        </p:txBody>
      </p:sp>
      <p:sp>
        <p:nvSpPr>
          <p:cNvPr id="15" name="Rectangle 14"/>
          <p:cNvSpPr/>
          <p:nvPr/>
        </p:nvSpPr>
        <p:spPr>
          <a:xfrm>
            <a:off x="1682496" y="1558544"/>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spec, plan, tasks</a:t>
            </a:r>
          </a:p>
        </p:txBody>
      </p:sp>
      <p:sp>
        <p:nvSpPr>
          <p:cNvPr id="16" name="Rectangle 15"/>
          <p:cNvSpPr/>
          <p:nvPr/>
        </p:nvSpPr>
        <p:spPr>
          <a:xfrm>
            <a:off x="4259503" y="1558544"/>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spec, or a PRD if large</a:t>
            </a:r>
          </a:p>
        </p:txBody>
      </p:sp>
      <p:sp>
        <p:nvSpPr>
          <p:cNvPr id="17" name="Rectangle 16"/>
          <p:cNvSpPr/>
          <p:nvPr/>
        </p:nvSpPr>
        <p:spPr>
          <a:xfrm>
            <a:off x="6836511" y="1558544"/>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charter, decisions, history</a:t>
            </a:r>
          </a:p>
        </p:txBody>
      </p:sp>
      <p:sp>
        <p:nvSpPr>
          <p:cNvPr id="18" name="Rectangle 17"/>
          <p:cNvSpPr/>
          <p:nvPr/>
        </p:nvSpPr>
        <p:spPr>
          <a:xfrm>
            <a:off x="9413519" y="1558544"/>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Context, Plan, Roadmap</a:t>
            </a:r>
          </a:p>
        </p:txBody>
      </p:sp>
      <p:sp>
        <p:nvSpPr>
          <p:cNvPr id="19" name="Rectangle 18"/>
          <p:cNvSpPr/>
          <p:nvPr/>
        </p:nvSpPr>
        <p:spPr>
          <a:xfrm>
            <a:off x="201168" y="2202688"/>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Moving parts</a:t>
            </a:r>
          </a:p>
        </p:txBody>
      </p:sp>
      <p:sp>
        <p:nvSpPr>
          <p:cNvPr id="20" name="Rectangle 19"/>
          <p:cNvSpPr/>
          <p:nvPr/>
        </p:nvSpPr>
        <p:spPr>
          <a:xfrm>
            <a:off x="1682496" y="2202688"/>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CLI and skills</a:t>
            </a:r>
          </a:p>
        </p:txBody>
      </p:sp>
      <p:sp>
        <p:nvSpPr>
          <p:cNvPr id="21" name="Rectangle 20"/>
          <p:cNvSpPr/>
          <p:nvPr/>
        </p:nvSpPr>
        <p:spPr>
          <a:xfrm>
            <a:off x="4259503" y="2202688"/>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Skills and agents</a:t>
            </a:r>
          </a:p>
        </p:txBody>
      </p:sp>
      <p:sp>
        <p:nvSpPr>
          <p:cNvPr id="22" name="Rectangle 21"/>
          <p:cNvSpPr/>
          <p:nvPr/>
        </p:nvSpPr>
        <p:spPr>
          <a:xfrm>
            <a:off x="6836511" y="2202688"/>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Roster and Copilot</a:t>
            </a:r>
          </a:p>
        </p:txBody>
      </p:sp>
      <p:sp>
        <p:nvSpPr>
          <p:cNvPr id="23" name="Rectangle 22"/>
          <p:cNvSpPr/>
          <p:nvPr/>
        </p:nvSpPr>
        <p:spPr>
          <a:xfrm>
            <a:off x="9413519" y="2202688"/>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Three markdown files</a:t>
            </a:r>
          </a:p>
        </p:txBody>
      </p:sp>
      <p:sp>
        <p:nvSpPr>
          <p:cNvPr id="24" name="Rectangle 23"/>
          <p:cNvSpPr/>
          <p:nvPr/>
        </p:nvSpPr>
        <p:spPr>
          <a:xfrm>
            <a:off x="201168" y="2846832"/>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In common</a:t>
            </a:r>
          </a:p>
        </p:txBody>
      </p:sp>
      <p:sp>
        <p:nvSpPr>
          <p:cNvPr id="25" name="Rectangle 24"/>
          <p:cNvSpPr/>
          <p:nvPr/>
        </p:nvSpPr>
        <p:spPr>
          <a:xfrm>
            <a:off x="1682496" y="2846832"/>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Intent, plan, tasks, a check</a:t>
            </a:r>
          </a:p>
        </p:txBody>
      </p:sp>
      <p:sp>
        <p:nvSpPr>
          <p:cNvPr id="26" name="Rectangle 25"/>
          <p:cNvSpPr/>
          <p:nvPr/>
        </p:nvSpPr>
        <p:spPr>
          <a:xfrm>
            <a:off x="4259503" y="2846832"/>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Intent, plan, build, a check</a:t>
            </a:r>
          </a:p>
        </p:txBody>
      </p:sp>
      <p:sp>
        <p:nvSpPr>
          <p:cNvPr id="27" name="Rectangle 26"/>
          <p:cNvSpPr/>
          <p:nvPr/>
        </p:nvSpPr>
        <p:spPr>
          <a:xfrm>
            <a:off x="6836511" y="2846832"/>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A task, decisions, a review</a:t>
            </a:r>
          </a:p>
        </p:txBody>
      </p:sp>
      <p:sp>
        <p:nvSpPr>
          <p:cNvPr id="28" name="Rectangle 27"/>
          <p:cNvSpPr/>
          <p:nvPr/>
        </p:nvSpPr>
        <p:spPr>
          <a:xfrm>
            <a:off x="9413519" y="2846832"/>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Intent, plan, tasks, a check</a:t>
            </a:r>
          </a:p>
        </p:txBody>
      </p:sp>
      <p:sp>
        <p:nvSpPr>
          <p:cNvPr id="29" name="Rectangle 28"/>
          <p:cNvSpPr/>
          <p:nvPr/>
        </p:nvSpPr>
        <p:spPr>
          <a:xfrm>
            <a:off x="201168" y="3490976"/>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Lock-in</a:t>
            </a:r>
          </a:p>
        </p:txBody>
      </p:sp>
      <p:sp>
        <p:nvSpPr>
          <p:cNvPr id="30" name="Rectangle 29"/>
          <p:cNvSpPr/>
          <p:nvPr/>
        </p:nvSpPr>
        <p:spPr>
          <a:xfrm>
            <a:off x="1682496" y="3490976"/>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.specify/ on many agents</a:t>
            </a:r>
          </a:p>
        </p:txBody>
      </p:sp>
      <p:sp>
        <p:nvSpPr>
          <p:cNvPr id="31" name="Rectangle 30"/>
          <p:cNvSpPr/>
          <p:nvPr/>
        </p:nvSpPr>
        <p:spPr>
          <a:xfrm>
            <a:off x="4259503" y="3490976"/>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Skill names on many tools</a:t>
            </a:r>
          </a:p>
        </p:txBody>
      </p:sp>
      <p:sp>
        <p:nvSpPr>
          <p:cNvPr id="32" name="Rectangle 31"/>
          <p:cNvSpPr/>
          <p:nvPr/>
        </p:nvSpPr>
        <p:spPr>
          <a:xfrm>
            <a:off x="6836511" y="3490976"/>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GitHub Copilot</a:t>
            </a:r>
          </a:p>
        </p:txBody>
      </p:sp>
      <p:sp>
        <p:nvSpPr>
          <p:cNvPr id="33" name="Rectangle 32"/>
          <p:cNvSpPr/>
          <p:nvPr/>
        </p:nvSpPr>
        <p:spPr>
          <a:xfrm>
            <a:off x="9413519" y="3490976"/>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Any markdown reader</a:t>
            </a:r>
          </a:p>
        </p:txBody>
      </p:sp>
      <p:sp>
        <p:nvSpPr>
          <p:cNvPr id="34" name="Rectangle 33"/>
          <p:cNvSpPr/>
          <p:nvPr/>
        </p:nvSpPr>
        <p:spPr>
          <a:xfrm>
            <a:off x="201168" y="4135120"/>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Install</a:t>
            </a:r>
          </a:p>
        </p:txBody>
      </p:sp>
      <p:sp>
        <p:nvSpPr>
          <p:cNvPr id="35" name="Rectangle 34"/>
          <p:cNvSpPr/>
          <p:nvPr/>
        </p:nvSpPr>
        <p:spPr>
          <a:xfrm>
            <a:off x="1682496" y="4135120"/>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Python 3.11+ and uv</a:t>
            </a:r>
          </a:p>
        </p:txBody>
      </p:sp>
      <p:sp>
        <p:nvSpPr>
          <p:cNvPr id="36" name="Rectangle 35"/>
          <p:cNvSpPr/>
          <p:nvPr/>
        </p:nvSpPr>
        <p:spPr>
          <a:xfrm>
            <a:off x="4259503" y="4135120"/>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Node, npm, and uv</a:t>
            </a:r>
          </a:p>
        </p:txBody>
      </p:sp>
      <p:sp>
        <p:nvSpPr>
          <p:cNvPr id="37" name="Rectangle 36"/>
          <p:cNvSpPr/>
          <p:nvPr/>
        </p:nvSpPr>
        <p:spPr>
          <a:xfrm>
            <a:off x="6836511" y="4135120"/>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Copilot and Node 22.5+, or standalone</a:t>
            </a:r>
          </a:p>
        </p:txBody>
      </p:sp>
      <p:sp>
        <p:nvSpPr>
          <p:cNvPr id="38" name="Rectangle 37"/>
          <p:cNvSpPr/>
          <p:nvPr/>
        </p:nvSpPr>
        <p:spPr>
          <a:xfrm>
            <a:off x="9413519" y="4135120"/>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Nothing</a:t>
            </a:r>
          </a:p>
        </p:txBody>
      </p:sp>
      <p:sp>
        <p:nvSpPr>
          <p:cNvPr id="39" name="Rectangle 38"/>
          <p:cNvSpPr/>
          <p:nvPr/>
        </p:nvSpPr>
        <p:spPr>
          <a:xfrm>
            <a:off x="201168" y="4779264"/>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Greenfield</a:t>
            </a:r>
          </a:p>
        </p:txBody>
      </p:sp>
      <p:sp>
        <p:nvSpPr>
          <p:cNvPr id="40" name="Rectangle 39"/>
          <p:cNvSpPr/>
          <p:nvPr/>
        </p:nvSpPr>
        <p:spPr>
          <a:xfrm>
            <a:off x="1682496" y="4779264"/>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Specify, then plan</a:t>
            </a:r>
          </a:p>
        </p:txBody>
      </p:sp>
      <p:sp>
        <p:nvSpPr>
          <p:cNvPr id="41" name="Rectangle 40"/>
          <p:cNvSpPr/>
          <p:nvPr/>
        </p:nvSpPr>
        <p:spPr>
          <a:xfrm>
            <a:off x="4259503" y="4779264"/>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Plan the big idea</a:t>
            </a:r>
          </a:p>
        </p:txBody>
      </p:sp>
      <p:sp>
        <p:nvSpPr>
          <p:cNvPr id="42" name="Rectangle 41"/>
          <p:cNvSpPr/>
          <p:nvPr/>
        </p:nvSpPr>
        <p:spPr>
          <a:xfrm>
            <a:off x="6836511" y="4779264"/>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Describe it, get a team</a:t>
            </a:r>
          </a:p>
        </p:txBody>
      </p:sp>
      <p:sp>
        <p:nvSpPr>
          <p:cNvPr id="43" name="Rectangle 42"/>
          <p:cNvSpPr/>
          <p:nvPr/>
        </p:nvSpPr>
        <p:spPr>
          <a:xfrm>
            <a:off x="9413519" y="4779264"/>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Write context as you decide</a:t>
            </a:r>
          </a:p>
        </p:txBody>
      </p:sp>
      <p:sp>
        <p:nvSpPr>
          <p:cNvPr id="44" name="Rectangle 43"/>
          <p:cNvSpPr/>
          <p:nvPr/>
        </p:nvSpPr>
        <p:spPr>
          <a:xfrm>
            <a:off x="201168" y="5423408"/>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Brownfield</a:t>
            </a:r>
          </a:p>
        </p:txBody>
      </p:sp>
      <p:sp>
        <p:nvSpPr>
          <p:cNvPr id="45" name="Rectangle 44"/>
          <p:cNvSpPr/>
          <p:nvPr/>
        </p:nvSpPr>
        <p:spPr>
          <a:xfrm>
            <a:off x="1682496" y="5423408"/>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The next slice only</a:t>
            </a:r>
          </a:p>
        </p:txBody>
      </p:sp>
      <p:sp>
        <p:nvSpPr>
          <p:cNvPr id="46" name="Rectangle 45"/>
          <p:cNvSpPr/>
          <p:nvPr/>
        </p:nvSpPr>
        <p:spPr>
          <a:xfrm>
            <a:off x="4259503" y="5423408"/>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Do not restate the code</a:t>
            </a:r>
          </a:p>
        </p:txBody>
      </p:sp>
      <p:sp>
        <p:nvSpPr>
          <p:cNvPr id="47" name="Rectangle 46"/>
          <p:cNvSpPr/>
          <p:nvPr/>
        </p:nvSpPr>
        <p:spPr>
          <a:xfrm>
            <a:off x="6836511" y="5423408"/>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Scan the repo, propose roles</a:t>
            </a:r>
          </a:p>
        </p:txBody>
      </p:sp>
      <p:sp>
        <p:nvSpPr>
          <p:cNvPr id="48" name="Rectangle 47"/>
          <p:cNvSpPr/>
          <p:nvPr/>
        </p:nvSpPr>
        <p:spPr>
          <a:xfrm>
            <a:off x="9413519" y="5423408"/>
            <a:ext cx="2577007" cy="644144"/>
          </a:xfrm>
          <a:prstGeom prst="rect">
            <a:avLst/>
          </a:prstGeom>
          <a:solidFill>
            <a:srgbClr val="FFFCF7"/>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Verify context from the code</a:t>
            </a:r>
          </a:p>
        </p:txBody>
      </p:sp>
      <p:sp>
        <p:nvSpPr>
          <p:cNvPr id="49" name="Rectangle 48"/>
          <p:cNvSpPr/>
          <p:nvPr/>
        </p:nvSpPr>
        <p:spPr>
          <a:xfrm>
            <a:off x="201168" y="6067552"/>
            <a:ext cx="1481328" cy="644144"/>
          </a:xfrm>
          <a:prstGeom prst="rect">
            <a:avLst/>
          </a:prstGeom>
          <a:solidFill>
            <a:srgbClr val="E7E1D4"/>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1" i="0">
                <a:solidFill>
                  <a:srgbClr val="1C1915"/>
                </a:solidFill>
                <a:latin typeface="Calibri"/>
                <a:ea typeface="Calibri"/>
                <a:cs typeface="Calibri"/>
              </a:rPr>
              <a:t>Best used when</a:t>
            </a:r>
          </a:p>
        </p:txBody>
      </p:sp>
      <p:sp>
        <p:nvSpPr>
          <p:cNvPr id="50" name="Rectangle 49"/>
          <p:cNvSpPr/>
          <p:nvPr/>
        </p:nvSpPr>
        <p:spPr>
          <a:xfrm>
            <a:off x="1682496" y="6067552"/>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Shared commands and a paper trail</a:t>
            </a:r>
          </a:p>
        </p:txBody>
      </p:sp>
      <p:sp>
        <p:nvSpPr>
          <p:cNvPr id="51" name="Rectangle 50"/>
          <p:cNvSpPr/>
          <p:nvPr/>
        </p:nvSpPr>
        <p:spPr>
          <a:xfrm>
            <a:off x="4259503" y="6067552"/>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Depth you can leave off</a:t>
            </a:r>
          </a:p>
        </p:txBody>
      </p:sp>
      <p:sp>
        <p:nvSpPr>
          <p:cNvPr id="52" name="Rectangle 51"/>
          <p:cNvSpPr/>
          <p:nvPr/>
        </p:nvSpPr>
        <p:spPr>
          <a:xfrm>
            <a:off x="6836511" y="6067552"/>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You already live in Copilot</a:t>
            </a:r>
          </a:p>
        </p:txBody>
      </p:sp>
      <p:sp>
        <p:nvSpPr>
          <p:cNvPr id="53" name="Rectangle 52"/>
          <p:cNvSpPr/>
          <p:nvPr/>
        </p:nvSpPr>
        <p:spPr>
          <a:xfrm>
            <a:off x="9413519" y="6067552"/>
            <a:ext cx="2577007" cy="644144"/>
          </a:xfrm>
          <a:prstGeom prst="rect">
            <a:avLst/>
          </a:prstGeom>
          <a:solidFill>
            <a:srgbClr val="EFEAE1"/>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0"/>
              </a:spcAft>
            </a:pPr>
            <a:r>
              <a:rPr sz="1200" b="0" i="0">
                <a:solidFill>
                  <a:srgbClr val="1C1915"/>
                </a:solidFill>
                <a:latin typeface="Calibri"/>
                <a:ea typeface="Calibri"/>
                <a:cs typeface="Calibri"/>
              </a:rPr>
              <a:t>You will keep three files true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10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IN COMMON</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They already agree</a:t>
            </a:r>
          </a:p>
        </p:txBody>
      </p:sp>
      <p:sp>
        <p:nvSpPr>
          <p:cNvPr id="7" name="Rounded Rectangle 6"/>
          <p:cNvSpPr/>
          <p:nvPr/>
        </p:nvSpPr>
        <p:spPr>
          <a:xfrm>
            <a:off x="566928" y="1353312"/>
            <a:ext cx="2743200" cy="29260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800" b="1" i="0">
                <a:solidFill>
                  <a:srgbClr val="0E4B48"/>
                </a:solidFill>
                <a:latin typeface="Calibri"/>
                <a:ea typeface="Calibri"/>
                <a:cs typeface="Calibri"/>
              </a:rPr>
              <a:t>Spec Kit</a:t>
            </a:r>
          </a:p>
          <a:p>
            <a:pPr algn="l">
              <a:spcBef>
                <a:spcPts val="600"/>
              </a:spcBef>
              <a:spcAft>
                <a:spcPts val="0"/>
              </a:spcAft>
            </a:pPr>
            <a:r>
              <a:rPr sz="1100" b="1" i="0">
                <a:solidFill>
                  <a:srgbClr val="6B645C"/>
                </a:solidFill>
                <a:latin typeface="Calibri"/>
                <a:ea typeface="Calibri"/>
                <a:cs typeface="Calibri"/>
              </a:rPr>
              <a:t>INTENT</a:t>
            </a:r>
          </a:p>
          <a:p>
            <a:pPr algn="l">
              <a:spcBef>
                <a:spcPts val="0"/>
              </a:spcBef>
              <a:spcAft>
                <a:spcPts val="200"/>
              </a:spcAft>
            </a:pPr>
            <a:r>
              <a:rPr sz="1500" b="0" i="0">
                <a:solidFill>
                  <a:srgbClr val="1C1915"/>
                </a:solidFill>
                <a:latin typeface="Calibri"/>
                <a:ea typeface="Calibri"/>
                <a:cs typeface="Calibri"/>
              </a:rPr>
              <a:t>Specify</a:t>
            </a:r>
          </a:p>
          <a:p>
            <a:pPr algn="l">
              <a:spcBef>
                <a:spcPts val="600"/>
              </a:spcBef>
              <a:spcAft>
                <a:spcPts val="0"/>
              </a:spcAft>
            </a:pPr>
            <a:r>
              <a:rPr sz="1100" b="1" i="0">
                <a:solidFill>
                  <a:srgbClr val="6B645C"/>
                </a:solidFill>
                <a:latin typeface="Calibri"/>
                <a:ea typeface="Calibri"/>
                <a:cs typeface="Calibri"/>
              </a:rPr>
              <a:t>PLAN</a:t>
            </a:r>
          </a:p>
          <a:p>
            <a:pPr algn="l">
              <a:spcBef>
                <a:spcPts val="0"/>
              </a:spcBef>
              <a:spcAft>
                <a:spcPts val="200"/>
              </a:spcAft>
            </a:pPr>
            <a:r>
              <a:rPr sz="1500" b="0" i="0">
                <a:solidFill>
                  <a:srgbClr val="1C1915"/>
                </a:solidFill>
                <a:latin typeface="Calibri"/>
                <a:ea typeface="Calibri"/>
                <a:cs typeface="Calibri"/>
              </a:rPr>
              <a:t>Plan</a:t>
            </a:r>
          </a:p>
          <a:p>
            <a:pPr algn="l">
              <a:spcBef>
                <a:spcPts val="600"/>
              </a:spcBef>
              <a:spcAft>
                <a:spcPts val="0"/>
              </a:spcAft>
            </a:pPr>
            <a:r>
              <a:rPr sz="1100" b="1" i="0">
                <a:solidFill>
                  <a:srgbClr val="6B645C"/>
                </a:solidFill>
                <a:latin typeface="Calibri"/>
                <a:ea typeface="Calibri"/>
                <a:cs typeface="Calibri"/>
              </a:rPr>
              <a:t>TASKS</a:t>
            </a:r>
          </a:p>
          <a:p>
            <a:pPr algn="l">
              <a:spcBef>
                <a:spcPts val="0"/>
              </a:spcBef>
              <a:spcAft>
                <a:spcPts val="200"/>
              </a:spcAft>
            </a:pPr>
            <a:r>
              <a:rPr sz="1500" b="0" i="0">
                <a:solidFill>
                  <a:srgbClr val="1C1915"/>
                </a:solidFill>
                <a:latin typeface="Calibri"/>
                <a:ea typeface="Calibri"/>
                <a:cs typeface="Calibri"/>
              </a:rPr>
              <a:t>Tasks</a:t>
            </a:r>
          </a:p>
          <a:p>
            <a:pPr algn="l">
              <a:spcBef>
                <a:spcPts val="600"/>
              </a:spcBef>
              <a:spcAft>
                <a:spcPts val="0"/>
              </a:spcAft>
            </a:pPr>
            <a:r>
              <a:rPr sz="1100" b="1" i="0">
                <a:solidFill>
                  <a:srgbClr val="6B645C"/>
                </a:solidFill>
                <a:latin typeface="Calibri"/>
                <a:ea typeface="Calibri"/>
                <a:cs typeface="Calibri"/>
              </a:rPr>
              <a:t>CHECK</a:t>
            </a:r>
          </a:p>
          <a:p>
            <a:pPr algn="l">
              <a:spcBef>
                <a:spcPts val="0"/>
              </a:spcBef>
              <a:spcAft>
                <a:spcPts val="200"/>
              </a:spcAft>
            </a:pPr>
            <a:r>
              <a:rPr sz="1500" b="0" i="0">
                <a:solidFill>
                  <a:srgbClr val="1C1915"/>
                </a:solidFill>
                <a:latin typeface="Calibri"/>
                <a:ea typeface="Calibri"/>
                <a:cs typeface="Calibri"/>
              </a:rPr>
              <a:t>Converge</a:t>
            </a:r>
          </a:p>
        </p:txBody>
      </p:sp>
      <p:sp>
        <p:nvSpPr>
          <p:cNvPr id="8" name="Rounded Rectangle 7"/>
          <p:cNvSpPr/>
          <p:nvPr/>
        </p:nvSpPr>
        <p:spPr>
          <a:xfrm>
            <a:off x="3447288" y="1353312"/>
            <a:ext cx="2743200" cy="29260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800" b="1" i="0">
                <a:solidFill>
                  <a:srgbClr val="0E4B48"/>
                </a:solidFill>
                <a:latin typeface="Calibri"/>
                <a:ea typeface="Calibri"/>
                <a:cs typeface="Calibri"/>
              </a:rPr>
              <a:t>BMAD</a:t>
            </a:r>
          </a:p>
          <a:p>
            <a:pPr algn="l">
              <a:spcBef>
                <a:spcPts val="600"/>
              </a:spcBef>
              <a:spcAft>
                <a:spcPts val="0"/>
              </a:spcAft>
            </a:pPr>
            <a:r>
              <a:rPr sz="1100" b="1" i="0">
                <a:solidFill>
                  <a:srgbClr val="6B645C"/>
                </a:solidFill>
                <a:latin typeface="Calibri"/>
                <a:ea typeface="Calibri"/>
                <a:cs typeface="Calibri"/>
              </a:rPr>
              <a:t>INTENT</a:t>
            </a:r>
          </a:p>
          <a:p>
            <a:pPr algn="l">
              <a:spcBef>
                <a:spcPts val="0"/>
              </a:spcBef>
              <a:spcAft>
                <a:spcPts val="200"/>
              </a:spcAft>
            </a:pPr>
            <a:r>
              <a:rPr sz="1500" b="0" i="0">
                <a:solidFill>
                  <a:srgbClr val="1C1915"/>
                </a:solidFill>
                <a:latin typeface="Calibri"/>
                <a:ea typeface="Calibri"/>
                <a:cs typeface="Calibri"/>
              </a:rPr>
              <a:t>Spec</a:t>
            </a:r>
          </a:p>
          <a:p>
            <a:pPr algn="l">
              <a:spcBef>
                <a:spcPts val="600"/>
              </a:spcBef>
              <a:spcAft>
                <a:spcPts val="0"/>
              </a:spcAft>
            </a:pPr>
            <a:r>
              <a:rPr sz="1100" b="1" i="0">
                <a:solidFill>
                  <a:srgbClr val="6B645C"/>
                </a:solidFill>
                <a:latin typeface="Calibri"/>
                <a:ea typeface="Calibri"/>
                <a:cs typeface="Calibri"/>
              </a:rPr>
              <a:t>PLAN</a:t>
            </a:r>
          </a:p>
          <a:p>
            <a:pPr algn="l">
              <a:spcBef>
                <a:spcPts val="0"/>
              </a:spcBef>
              <a:spcAft>
                <a:spcPts val="200"/>
              </a:spcAft>
            </a:pPr>
            <a:r>
              <a:rPr sz="1500" b="0" i="0">
                <a:solidFill>
                  <a:srgbClr val="1C1915"/>
                </a:solidFill>
                <a:latin typeface="Calibri"/>
                <a:ea typeface="Calibri"/>
                <a:cs typeface="Calibri"/>
              </a:rPr>
              <a:t>Plan, if it is large</a:t>
            </a:r>
          </a:p>
          <a:p>
            <a:pPr algn="l">
              <a:spcBef>
                <a:spcPts val="600"/>
              </a:spcBef>
              <a:spcAft>
                <a:spcPts val="0"/>
              </a:spcAft>
            </a:pPr>
            <a:r>
              <a:rPr sz="1100" b="1" i="0">
                <a:solidFill>
                  <a:srgbClr val="6B645C"/>
                </a:solidFill>
                <a:latin typeface="Calibri"/>
                <a:ea typeface="Calibri"/>
                <a:cs typeface="Calibri"/>
              </a:rPr>
              <a:t>TASKS</a:t>
            </a:r>
          </a:p>
          <a:p>
            <a:pPr algn="l">
              <a:spcBef>
                <a:spcPts val="0"/>
              </a:spcBef>
              <a:spcAft>
                <a:spcPts val="200"/>
              </a:spcAft>
            </a:pPr>
            <a:r>
              <a:rPr sz="1500" b="0" i="0">
                <a:solidFill>
                  <a:srgbClr val="1C1915"/>
                </a:solidFill>
                <a:latin typeface="Calibri"/>
                <a:ea typeface="Calibri"/>
                <a:cs typeface="Calibri"/>
              </a:rPr>
              <a:t>Build</a:t>
            </a:r>
          </a:p>
          <a:p>
            <a:pPr algn="l">
              <a:spcBef>
                <a:spcPts val="600"/>
              </a:spcBef>
              <a:spcAft>
                <a:spcPts val="0"/>
              </a:spcAft>
            </a:pPr>
            <a:r>
              <a:rPr sz="1100" b="1" i="0">
                <a:solidFill>
                  <a:srgbClr val="6B645C"/>
                </a:solidFill>
                <a:latin typeface="Calibri"/>
                <a:ea typeface="Calibri"/>
                <a:cs typeface="Calibri"/>
              </a:rPr>
              <a:t>CHECK</a:t>
            </a:r>
          </a:p>
          <a:p>
            <a:pPr algn="l">
              <a:spcBef>
                <a:spcPts val="0"/>
              </a:spcBef>
              <a:spcAft>
                <a:spcPts val="200"/>
              </a:spcAft>
            </a:pPr>
            <a:r>
              <a:rPr sz="1500" b="0" i="0">
                <a:solidFill>
                  <a:srgbClr val="1C1915"/>
                </a:solidFill>
                <a:latin typeface="Calibri"/>
                <a:ea typeface="Calibri"/>
                <a:cs typeface="Calibri"/>
              </a:rPr>
              <a:t>Verify</a:t>
            </a:r>
          </a:p>
        </p:txBody>
      </p:sp>
      <p:sp>
        <p:nvSpPr>
          <p:cNvPr id="9" name="Rounded Rectangle 8"/>
          <p:cNvSpPr/>
          <p:nvPr/>
        </p:nvSpPr>
        <p:spPr>
          <a:xfrm>
            <a:off x="6327648" y="1353312"/>
            <a:ext cx="2743200" cy="29260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800" b="1" i="0">
                <a:solidFill>
                  <a:srgbClr val="0E4B48"/>
                </a:solidFill>
                <a:latin typeface="Calibri"/>
                <a:ea typeface="Calibri"/>
                <a:cs typeface="Calibri"/>
              </a:rPr>
              <a:t>Squad</a:t>
            </a:r>
          </a:p>
          <a:p>
            <a:pPr algn="l">
              <a:spcBef>
                <a:spcPts val="600"/>
              </a:spcBef>
              <a:spcAft>
                <a:spcPts val="0"/>
              </a:spcAft>
            </a:pPr>
            <a:r>
              <a:rPr sz="1100" b="1" i="0">
                <a:solidFill>
                  <a:srgbClr val="6B645C"/>
                </a:solidFill>
                <a:latin typeface="Calibri"/>
                <a:ea typeface="Calibri"/>
                <a:cs typeface="Calibri"/>
              </a:rPr>
              <a:t>INTENT</a:t>
            </a:r>
          </a:p>
          <a:p>
            <a:pPr algn="l">
              <a:spcBef>
                <a:spcPts val="0"/>
              </a:spcBef>
              <a:spcAft>
                <a:spcPts val="200"/>
              </a:spcAft>
            </a:pPr>
            <a:r>
              <a:rPr sz="1500" b="0" i="0">
                <a:solidFill>
                  <a:srgbClr val="1C1915"/>
                </a:solidFill>
                <a:latin typeface="Calibri"/>
                <a:ea typeface="Calibri"/>
                <a:cs typeface="Calibri"/>
              </a:rPr>
              <a:t>The request</a:t>
            </a:r>
          </a:p>
          <a:p>
            <a:pPr algn="l">
              <a:spcBef>
                <a:spcPts val="600"/>
              </a:spcBef>
              <a:spcAft>
                <a:spcPts val="0"/>
              </a:spcAft>
            </a:pPr>
            <a:r>
              <a:rPr sz="1100" b="1" i="0">
                <a:solidFill>
                  <a:srgbClr val="6B645C"/>
                </a:solidFill>
                <a:latin typeface="Calibri"/>
                <a:ea typeface="Calibri"/>
                <a:cs typeface="Calibri"/>
              </a:rPr>
              <a:t>PLAN</a:t>
            </a:r>
          </a:p>
          <a:p>
            <a:pPr algn="l">
              <a:spcBef>
                <a:spcPts val="0"/>
              </a:spcBef>
              <a:spcAft>
                <a:spcPts val="200"/>
              </a:spcAft>
            </a:pPr>
            <a:r>
              <a:rPr sz="1500" b="0" i="0">
                <a:solidFill>
                  <a:srgbClr val="1C1915"/>
                </a:solidFill>
                <a:latin typeface="Calibri"/>
                <a:ea typeface="Calibri"/>
                <a:cs typeface="Calibri"/>
              </a:rPr>
              <a:t>Decisions file</a:t>
            </a:r>
          </a:p>
          <a:p>
            <a:pPr algn="l">
              <a:spcBef>
                <a:spcPts val="600"/>
              </a:spcBef>
              <a:spcAft>
                <a:spcPts val="0"/>
              </a:spcAft>
            </a:pPr>
            <a:r>
              <a:rPr sz="1100" b="1" i="0">
                <a:solidFill>
                  <a:srgbClr val="6B645C"/>
                </a:solidFill>
                <a:latin typeface="Calibri"/>
                <a:ea typeface="Calibri"/>
                <a:cs typeface="Calibri"/>
              </a:rPr>
              <a:t>TASKS</a:t>
            </a:r>
          </a:p>
          <a:p>
            <a:pPr algn="l">
              <a:spcBef>
                <a:spcPts val="0"/>
              </a:spcBef>
              <a:spcAft>
                <a:spcPts val="200"/>
              </a:spcAft>
            </a:pPr>
            <a:r>
              <a:rPr sz="1500" b="0" i="0">
                <a:solidFill>
                  <a:srgbClr val="1C1915"/>
                </a:solidFill>
                <a:latin typeface="Calibri"/>
                <a:ea typeface="Calibri"/>
                <a:cs typeface="Calibri"/>
              </a:rPr>
              <a:t>Routed work</a:t>
            </a:r>
          </a:p>
          <a:p>
            <a:pPr algn="l">
              <a:spcBef>
                <a:spcPts val="600"/>
              </a:spcBef>
              <a:spcAft>
                <a:spcPts val="0"/>
              </a:spcAft>
            </a:pPr>
            <a:r>
              <a:rPr sz="1100" b="1" i="0">
                <a:solidFill>
                  <a:srgbClr val="6B645C"/>
                </a:solidFill>
                <a:latin typeface="Calibri"/>
                <a:ea typeface="Calibri"/>
                <a:cs typeface="Calibri"/>
              </a:rPr>
              <a:t>CHECK</a:t>
            </a:r>
          </a:p>
          <a:p>
            <a:pPr algn="l">
              <a:spcBef>
                <a:spcPts val="0"/>
              </a:spcBef>
              <a:spcAft>
                <a:spcPts val="200"/>
              </a:spcAft>
            </a:pPr>
            <a:r>
              <a:rPr sz="1500" b="0" i="0">
                <a:solidFill>
                  <a:srgbClr val="1C1915"/>
                </a:solidFill>
                <a:latin typeface="Calibri"/>
                <a:ea typeface="Calibri"/>
                <a:cs typeface="Calibri"/>
              </a:rPr>
              <a:t>A review</a:t>
            </a:r>
          </a:p>
        </p:txBody>
      </p:sp>
      <p:sp>
        <p:nvSpPr>
          <p:cNvPr id="10" name="Rounded Rectangle 9"/>
          <p:cNvSpPr/>
          <p:nvPr/>
        </p:nvSpPr>
        <p:spPr>
          <a:xfrm>
            <a:off x="9208007" y="1353312"/>
            <a:ext cx="2743200" cy="29260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800" b="1" i="0">
                <a:solidFill>
                  <a:srgbClr val="0E4B48"/>
                </a:solidFill>
                <a:latin typeface="Calibri"/>
                <a:ea typeface="Calibri"/>
                <a:cs typeface="Calibri"/>
              </a:rPr>
              <a:t>Three files</a:t>
            </a:r>
          </a:p>
          <a:p>
            <a:pPr algn="l">
              <a:spcBef>
                <a:spcPts val="600"/>
              </a:spcBef>
              <a:spcAft>
                <a:spcPts val="0"/>
              </a:spcAft>
            </a:pPr>
            <a:r>
              <a:rPr sz="1100" b="1" i="0">
                <a:solidFill>
                  <a:srgbClr val="6B645C"/>
                </a:solidFill>
                <a:latin typeface="Calibri"/>
                <a:ea typeface="Calibri"/>
                <a:cs typeface="Calibri"/>
              </a:rPr>
              <a:t>INTENT</a:t>
            </a:r>
          </a:p>
          <a:p>
            <a:pPr algn="l">
              <a:spcBef>
                <a:spcPts val="0"/>
              </a:spcBef>
              <a:spcAft>
                <a:spcPts val="200"/>
              </a:spcAft>
            </a:pPr>
            <a:r>
              <a:rPr sz="1500" b="0" i="0">
                <a:solidFill>
                  <a:srgbClr val="1C1915"/>
                </a:solidFill>
                <a:latin typeface="Calibri"/>
                <a:ea typeface="Calibri"/>
                <a:cs typeface="Calibri"/>
              </a:rPr>
              <a:t>What and why</a:t>
            </a:r>
          </a:p>
          <a:p>
            <a:pPr algn="l">
              <a:spcBef>
                <a:spcPts val="600"/>
              </a:spcBef>
              <a:spcAft>
                <a:spcPts val="0"/>
              </a:spcAft>
            </a:pPr>
            <a:r>
              <a:rPr sz="1100" b="1" i="0">
                <a:solidFill>
                  <a:srgbClr val="6B645C"/>
                </a:solidFill>
                <a:latin typeface="Calibri"/>
                <a:ea typeface="Calibri"/>
                <a:cs typeface="Calibri"/>
              </a:rPr>
              <a:t>PLAN</a:t>
            </a:r>
          </a:p>
          <a:p>
            <a:pPr algn="l">
              <a:spcBef>
                <a:spcPts val="0"/>
              </a:spcBef>
              <a:spcAft>
                <a:spcPts val="200"/>
              </a:spcAft>
            </a:pPr>
            <a:r>
              <a:rPr sz="1500" b="0" i="0">
                <a:solidFill>
                  <a:srgbClr val="1C1915"/>
                </a:solidFill>
                <a:latin typeface="Calibri"/>
                <a:ea typeface="Calibri"/>
                <a:cs typeface="Calibri"/>
              </a:rPr>
              <a:t>Approach and bounds</a:t>
            </a:r>
          </a:p>
          <a:p>
            <a:pPr algn="l">
              <a:spcBef>
                <a:spcPts val="600"/>
              </a:spcBef>
              <a:spcAft>
                <a:spcPts val="0"/>
              </a:spcAft>
            </a:pPr>
            <a:r>
              <a:rPr sz="1100" b="1" i="0">
                <a:solidFill>
                  <a:srgbClr val="6B645C"/>
                </a:solidFill>
                <a:latin typeface="Calibri"/>
                <a:ea typeface="Calibri"/>
                <a:cs typeface="Calibri"/>
              </a:rPr>
              <a:t>TASKS</a:t>
            </a:r>
          </a:p>
          <a:p>
            <a:pPr algn="l">
              <a:spcBef>
                <a:spcPts val="0"/>
              </a:spcBef>
              <a:spcAft>
                <a:spcPts val="200"/>
              </a:spcAft>
            </a:pPr>
            <a:r>
              <a:rPr sz="1500" b="0" i="0">
                <a:solidFill>
                  <a:srgbClr val="1C1915"/>
                </a:solidFill>
                <a:latin typeface="Calibri"/>
                <a:ea typeface="Calibri"/>
                <a:cs typeface="Calibri"/>
              </a:rPr>
              <a:t>The task list</a:t>
            </a:r>
          </a:p>
          <a:p>
            <a:pPr algn="l">
              <a:spcBef>
                <a:spcPts val="600"/>
              </a:spcBef>
              <a:spcAft>
                <a:spcPts val="0"/>
              </a:spcAft>
            </a:pPr>
            <a:r>
              <a:rPr sz="1100" b="1" i="0">
                <a:solidFill>
                  <a:srgbClr val="6B645C"/>
                </a:solidFill>
                <a:latin typeface="Calibri"/>
                <a:ea typeface="Calibri"/>
                <a:cs typeface="Calibri"/>
              </a:rPr>
              <a:t>CHECK</a:t>
            </a:r>
          </a:p>
          <a:p>
            <a:pPr algn="l">
              <a:spcBef>
                <a:spcPts val="0"/>
              </a:spcBef>
              <a:spcAft>
                <a:spcPts val="200"/>
              </a:spcAft>
            </a:pPr>
            <a:r>
              <a:rPr sz="1500" b="0" i="0">
                <a:solidFill>
                  <a:srgbClr val="1C1915"/>
                </a:solidFill>
                <a:latin typeface="Calibri"/>
                <a:ea typeface="Calibri"/>
                <a:cs typeface="Calibri"/>
              </a:rPr>
              <a:t>Acceptance</a:t>
            </a:r>
          </a:p>
        </p:txBody>
      </p:sp>
      <p:sp>
        <p:nvSpPr>
          <p:cNvPr id="11" name="TextBox 10"/>
          <p:cNvSpPr txBox="1"/>
          <p:nvPr/>
        </p:nvSpPr>
        <p:spPr>
          <a:xfrm>
            <a:off x="566928" y="4480560"/>
            <a:ext cx="11064240" cy="365760"/>
          </a:xfrm>
          <a:prstGeom prst="rect">
            <a:avLst/>
          </a:prstGeom>
          <a:noFill/>
        </p:spPr>
        <p:txBody>
          <a:bodyPr wrap="square" lIns="0" tIns="0" rIns="0" bIns="0" anchor="t"/>
          <a:lstStyle/>
          <a:p>
            <a:pPr algn="l">
              <a:spcBef>
                <a:spcPts val="0"/>
              </a:spcBef>
              <a:spcAft>
                <a:spcPts val="0"/>
              </a:spcAft>
            </a:pPr>
            <a:r>
              <a:rPr sz="1800" b="1" i="0">
                <a:solidFill>
                  <a:srgbClr val="0E4B48"/>
                </a:solidFill>
                <a:latin typeface="Calibri"/>
                <a:ea typeface="Calibri"/>
                <a:cs typeface="Calibri"/>
              </a:rPr>
              <a:t>Written intent.  A plan.  Tasks.  A check.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11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COST WITHOUT A RETURN</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What does not pay rent</a:t>
            </a:r>
          </a:p>
        </p:txBody>
      </p:sp>
      <p:sp>
        <p:nvSpPr>
          <p:cNvPr id="7" name="Oval 6"/>
          <p:cNvSpPr/>
          <p:nvPr/>
        </p:nvSpPr>
        <p:spPr>
          <a:xfrm>
            <a:off x="566928" y="1463040"/>
            <a:ext cx="420624" cy="420624"/>
          </a:xfrm>
          <a:prstGeom prst="ellipse">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F6F3EC"/>
                </a:solidFill>
                <a:latin typeface="Calibri"/>
                <a:ea typeface="Calibri"/>
                <a:cs typeface="Calibri"/>
              </a:rPr>
              <a:t>1</a:t>
            </a:r>
          </a:p>
        </p:txBody>
      </p:sp>
      <p:sp>
        <p:nvSpPr>
          <p:cNvPr id="8" name="TextBox 7"/>
          <p:cNvSpPr txBox="1"/>
          <p:nvPr/>
        </p:nvSpPr>
        <p:spPr>
          <a:xfrm>
            <a:off x="1170432" y="1408176"/>
            <a:ext cx="10424160" cy="1051560"/>
          </a:xfrm>
          <a:prstGeom prst="rect">
            <a:avLst/>
          </a:prstGeom>
          <a:noFill/>
        </p:spPr>
        <p:txBody>
          <a:bodyPr wrap="square" lIns="0" tIns="0" rIns="0" bIns="0" anchor="t"/>
          <a:lstStyle/>
          <a:p>
            <a:pPr algn="l">
              <a:spcBef>
                <a:spcPts val="0"/>
              </a:spcBef>
              <a:spcAft>
                <a:spcPts val="200"/>
              </a:spcAft>
            </a:pPr>
            <a:r>
              <a:rPr sz="2000" b="1" i="0">
                <a:solidFill>
                  <a:srgbClr val="1C1915"/>
                </a:solidFill>
                <a:latin typeface="Calibri"/>
                <a:ea typeface="Calibri"/>
                <a:cs typeface="Calibri"/>
              </a:rPr>
              <a:t>A tester charter</a:t>
            </a:r>
          </a:p>
          <a:p>
            <a:pPr algn="l">
              <a:spcBef>
                <a:spcPts val="0"/>
              </a:spcBef>
              <a:spcAft>
                <a:spcPts val="0"/>
              </a:spcAft>
            </a:pPr>
            <a:r>
              <a:rPr sz="1600" b="0" i="0">
                <a:solidFill>
                  <a:srgbClr val="6B645C"/>
                </a:solidFill>
                <a:latin typeface="Calibri"/>
                <a:ea typeface="Calibri"/>
                <a:cs typeface="Calibri"/>
              </a:rPr>
              <a:t>BMAD’s v6.11 notes: a cynical reviewer persona did not change the residual-bug hit rate. Concrete findings did.</a:t>
            </a:r>
          </a:p>
        </p:txBody>
      </p:sp>
      <p:sp>
        <p:nvSpPr>
          <p:cNvPr id="9" name="Oval 8"/>
          <p:cNvSpPr/>
          <p:nvPr/>
        </p:nvSpPr>
        <p:spPr>
          <a:xfrm>
            <a:off x="566928" y="2880360"/>
            <a:ext cx="420624" cy="420624"/>
          </a:xfrm>
          <a:prstGeom prst="ellipse">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F6F3EC"/>
                </a:solidFill>
                <a:latin typeface="Calibri"/>
                <a:ea typeface="Calibri"/>
                <a:cs typeface="Calibri"/>
              </a:rPr>
              <a:t>2</a:t>
            </a:r>
          </a:p>
        </p:txBody>
      </p:sp>
      <p:sp>
        <p:nvSpPr>
          <p:cNvPr id="10" name="TextBox 9"/>
          <p:cNvSpPr txBox="1"/>
          <p:nvPr/>
        </p:nvSpPr>
        <p:spPr>
          <a:xfrm>
            <a:off x="1170432" y="2825496"/>
            <a:ext cx="10424160" cy="1051560"/>
          </a:xfrm>
          <a:prstGeom prst="rect">
            <a:avLst/>
          </a:prstGeom>
          <a:noFill/>
        </p:spPr>
        <p:txBody>
          <a:bodyPr wrap="square" lIns="0" tIns="0" rIns="0" bIns="0" anchor="t"/>
          <a:lstStyle/>
          <a:p>
            <a:pPr algn="l">
              <a:spcBef>
                <a:spcPts val="0"/>
              </a:spcBef>
              <a:spcAft>
                <a:spcPts val="200"/>
              </a:spcAft>
            </a:pPr>
            <a:r>
              <a:rPr sz="2000" b="1" i="0">
                <a:solidFill>
                  <a:srgbClr val="1C1915"/>
                </a:solidFill>
                <a:latin typeface="Calibri"/>
                <a:ea typeface="Calibri"/>
                <a:cs typeface="Calibri"/>
              </a:rPr>
              <a:t>A model pinned to a role</a:t>
            </a:r>
          </a:p>
          <a:p>
            <a:pPr algn="l">
              <a:spcBef>
                <a:spcPts val="0"/>
              </a:spcBef>
              <a:spcAft>
                <a:spcPts val="0"/>
              </a:spcAft>
            </a:pPr>
            <a:r>
              <a:rPr sz="1600" b="0" i="0">
                <a:solidFill>
                  <a:srgbClr val="6B645C"/>
                </a:solidFill>
                <a:latin typeface="Calibri"/>
                <a:ea typeface="Calibri"/>
                <a:cs typeface="Calibri"/>
              </a:rPr>
              <a:t>Squad maps roles onto price tiers, and a charter can pin a model. The map rots as models ship. Keep one strong model.</a:t>
            </a:r>
          </a:p>
        </p:txBody>
      </p:sp>
      <p:sp>
        <p:nvSpPr>
          <p:cNvPr id="11" name="Oval 10"/>
          <p:cNvSpPr/>
          <p:nvPr/>
        </p:nvSpPr>
        <p:spPr>
          <a:xfrm>
            <a:off x="566928" y="4297680"/>
            <a:ext cx="420624" cy="420624"/>
          </a:xfrm>
          <a:prstGeom prst="ellipse">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600" b="1" i="0">
                <a:solidFill>
                  <a:srgbClr val="F6F3EC"/>
                </a:solidFill>
                <a:latin typeface="Calibri"/>
                <a:ea typeface="Calibri"/>
                <a:cs typeface="Calibri"/>
              </a:rPr>
              <a:t>3</a:t>
            </a:r>
          </a:p>
        </p:txBody>
      </p:sp>
      <p:sp>
        <p:nvSpPr>
          <p:cNvPr id="12" name="TextBox 11"/>
          <p:cNvSpPr txBox="1"/>
          <p:nvPr/>
        </p:nvSpPr>
        <p:spPr>
          <a:xfrm>
            <a:off x="1170432" y="4242816"/>
            <a:ext cx="10424160" cy="1051560"/>
          </a:xfrm>
          <a:prstGeom prst="rect">
            <a:avLst/>
          </a:prstGeom>
          <a:noFill/>
        </p:spPr>
        <p:txBody>
          <a:bodyPr wrap="square" lIns="0" tIns="0" rIns="0" bIns="0" anchor="t"/>
          <a:lstStyle/>
          <a:p>
            <a:pPr algn="l">
              <a:spcBef>
                <a:spcPts val="0"/>
              </a:spcBef>
              <a:spcAft>
                <a:spcPts val="200"/>
              </a:spcAft>
            </a:pPr>
            <a:r>
              <a:rPr sz="2000" b="1" i="0">
                <a:solidFill>
                  <a:srgbClr val="1C1915"/>
                </a:solidFill>
                <a:latin typeface="Calibri"/>
                <a:ea typeface="Calibri"/>
                <a:cs typeface="Calibri"/>
              </a:rPr>
              <a:t>A phase gate for a known change</a:t>
            </a:r>
          </a:p>
          <a:p>
            <a:pPr algn="l">
              <a:spcBef>
                <a:spcPts val="0"/>
              </a:spcBef>
              <a:spcAft>
                <a:spcPts val="0"/>
              </a:spcAft>
            </a:pPr>
            <a:r>
              <a:rPr sz="1600" b="0" i="0">
                <a:solidFill>
                  <a:srgbClr val="6B645C"/>
                </a:solidFill>
                <a:latin typeface="Calibri"/>
                <a:ea typeface="Calibri"/>
                <a:cs typeface="Calibri"/>
              </a:rPr>
              <a:t>If the requirement is already bounded, more ceremony writes more pages before the same check.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12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PACE</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One change in flight</a:t>
            </a:r>
          </a:p>
        </p:txBody>
      </p:sp>
      <p:sp>
        <p:nvSpPr>
          <p:cNvPr id="7" name="Rounded Rectangle 6"/>
          <p:cNvSpPr/>
          <p:nvPr/>
        </p:nvSpPr>
        <p:spPr>
          <a:xfrm>
            <a:off x="566928" y="1463040"/>
            <a:ext cx="5486400" cy="4160520"/>
          </a:xfrm>
          <a:prstGeom prst="roundRect">
            <a:avLst>
              <a:gd name="adj" fmla="val 6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1000"/>
              </a:spcAft>
            </a:pPr>
            <a:r>
              <a:rPr sz="1400" b="1" i="0">
                <a:solidFill>
                  <a:srgbClr val="E4F0EE"/>
                </a:solidFill>
                <a:latin typeface="Calibri"/>
                <a:ea typeface="Calibri"/>
                <a:cs typeface="Calibri"/>
              </a:rPr>
              <a:t>The short path</a:t>
            </a:r>
          </a:p>
          <a:p>
            <a:pPr algn="l">
              <a:spcBef>
                <a:spcPts val="0"/>
              </a:spcBef>
              <a:spcAft>
                <a:spcPts val="1200"/>
              </a:spcAft>
            </a:pPr>
            <a:r>
              <a:rPr sz="2400" b="1" i="0">
                <a:solidFill>
                  <a:srgbClr val="F6F3EC"/>
                </a:solidFill>
                <a:latin typeface="Calibri"/>
                <a:ea typeface="Calibri"/>
                <a:cs typeface="Calibri"/>
              </a:rPr>
              <a:t>One bounded change, then update the record.</a:t>
            </a:r>
          </a:p>
          <a:p>
            <a:pPr algn="l">
              <a:spcBef>
                <a:spcPts val="0"/>
              </a:spcBef>
              <a:spcAft>
                <a:spcPts val="0"/>
              </a:spcAft>
            </a:pPr>
            <a:r>
              <a:rPr sz="1600" b="0" i="0">
                <a:solidFill>
                  <a:srgbClr val="F6F3EC"/>
                </a:solidFill>
                <a:latin typeface="Calibri"/>
                <a:ea typeface="Calibri"/>
                <a:cs typeface="Calibri"/>
              </a:rPr>
              <a:t>Spec Kit runs the loop per feature. BMAD sends a small change straight to build. Squad waits for a person to accept the work.</a:t>
            </a:r>
          </a:p>
        </p:txBody>
      </p:sp>
      <p:sp>
        <p:nvSpPr>
          <p:cNvPr id="8" name="Rounded Rectangle 7"/>
          <p:cNvSpPr/>
          <p:nvPr/>
        </p:nvSpPr>
        <p:spPr>
          <a:xfrm>
            <a:off x="6236208" y="1463040"/>
            <a:ext cx="5394960" cy="4160520"/>
          </a:xfrm>
          <a:prstGeom prst="roundRect">
            <a:avLst>
              <a:gd name="adj" fmla="val 6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1000"/>
              </a:spcAft>
            </a:pPr>
            <a:r>
              <a:rPr sz="1400" b="1" i="0">
                <a:solidFill>
                  <a:srgbClr val="0E4B48"/>
                </a:solidFill>
                <a:latin typeface="Calibri"/>
                <a:ea typeface="Calibri"/>
                <a:cs typeface="Calibri"/>
              </a:rPr>
              <a:t>The heavy setting</a:t>
            </a:r>
          </a:p>
          <a:p>
            <a:pPr algn="l">
              <a:spcBef>
                <a:spcPts val="0"/>
              </a:spcBef>
              <a:spcAft>
                <a:spcPts val="1200"/>
              </a:spcAft>
            </a:pPr>
            <a:r>
              <a:rPr sz="2400" b="1" i="0">
                <a:solidFill>
                  <a:srgbClr val="1C1915"/>
                </a:solidFill>
                <a:latin typeface="Calibri"/>
                <a:ea typeface="Calibri"/>
                <a:cs typeface="Calibri"/>
              </a:rPr>
              <a:t>The whole product, specified before any code.</a:t>
            </a:r>
          </a:p>
          <a:p>
            <a:pPr algn="l">
              <a:spcBef>
                <a:spcPts val="0"/>
              </a:spcBef>
              <a:spcAft>
                <a:spcPts val="0"/>
              </a:spcAft>
            </a:pPr>
            <a:r>
              <a:rPr sz="1600" b="0" i="0">
                <a:solidFill>
                  <a:srgbClr val="6B645C"/>
                </a:solidFill>
                <a:latin typeface="Calibri"/>
                <a:ea typeface="Calibri"/>
                <a:cs typeface="Calibri"/>
              </a:rPr>
              <a:t>That setting recreates a phase gate. Each project also ships a short path, because the long one is too much.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13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SWITCHING COST</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Lock-in and upkeep</a:t>
            </a:r>
          </a:p>
        </p:txBody>
      </p:sp>
      <p:sp>
        <p:nvSpPr>
          <p:cNvPr id="7" name="Rounded Rectangle 6"/>
          <p:cNvSpPr/>
          <p:nvPr/>
        </p:nvSpPr>
        <p:spPr>
          <a:xfrm>
            <a:off x="566928" y="1417320"/>
            <a:ext cx="1554480" cy="960120"/>
          </a:xfrm>
          <a:prstGeom prst="roundRect">
            <a:avLst>
              <a:gd name="adj" fmla="val 1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417320"/>
            <a:ext cx="1554480" cy="960120"/>
          </a:xfrm>
          <a:prstGeom prst="rect">
            <a:avLst/>
          </a:prstGeom>
          <a:noFill/>
        </p:spPr>
        <p:txBody>
          <a:bodyPr wrap="square" lIns="0" tIns="0" rIns="0" bIns="0" anchor="ctr"/>
          <a:lstStyle/>
          <a:p>
            <a:pPr algn="ctr">
              <a:spcBef>
                <a:spcPts val="0"/>
              </a:spcBef>
              <a:spcAft>
                <a:spcPts val="0"/>
              </a:spcAft>
            </a:pPr>
            <a:r>
              <a:rPr sz="1600" b="1" i="0">
                <a:solidFill>
                  <a:srgbClr val="F6F3EC"/>
                </a:solidFill>
                <a:latin typeface="Calibri"/>
                <a:ea typeface="Calibri"/>
                <a:cs typeface="Calibri"/>
              </a:rPr>
              <a:t>Model</a:t>
            </a:r>
          </a:p>
        </p:txBody>
      </p:sp>
      <p:sp>
        <p:nvSpPr>
          <p:cNvPr id="9" name="TextBox 8"/>
          <p:cNvSpPr txBox="1"/>
          <p:nvPr/>
        </p:nvSpPr>
        <p:spPr>
          <a:xfrm>
            <a:off x="2331720" y="1417320"/>
            <a:ext cx="9235440" cy="960120"/>
          </a:xfrm>
          <a:prstGeom prst="rect">
            <a:avLst/>
          </a:prstGeom>
          <a:noFill/>
        </p:spPr>
        <p:txBody>
          <a:bodyPr wrap="square" lIns="0" tIns="0" rIns="0" bIns="0" anchor="ctr"/>
          <a:lstStyle/>
          <a:p>
            <a:pPr algn="l">
              <a:spcBef>
                <a:spcPts val="0"/>
              </a:spcBef>
              <a:spcAft>
                <a:spcPts val="0"/>
              </a:spcAft>
            </a:pPr>
            <a:r>
              <a:rPr sz="1800" b="0" i="0">
                <a:solidFill>
                  <a:srgbClr val="1C1915"/>
                </a:solidFill>
                <a:latin typeface="Calibri"/>
                <a:ea typeface="Calibri"/>
                <a:cs typeface="Calibri"/>
              </a:rPr>
              <a:t>Low for Spec Kit and BMAD. High for Squad: the product is a Copilot team.</a:t>
            </a:r>
          </a:p>
        </p:txBody>
      </p:sp>
      <p:sp>
        <p:nvSpPr>
          <p:cNvPr id="10" name="Rounded Rectangle 9"/>
          <p:cNvSpPr/>
          <p:nvPr/>
        </p:nvSpPr>
        <p:spPr>
          <a:xfrm>
            <a:off x="566928" y="2560320"/>
            <a:ext cx="1554480" cy="960120"/>
          </a:xfrm>
          <a:prstGeom prst="roundRect">
            <a:avLst>
              <a:gd name="adj" fmla="val 1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2560320"/>
            <a:ext cx="1554480" cy="960120"/>
          </a:xfrm>
          <a:prstGeom prst="rect">
            <a:avLst/>
          </a:prstGeom>
          <a:noFill/>
        </p:spPr>
        <p:txBody>
          <a:bodyPr wrap="square" lIns="0" tIns="0" rIns="0" bIns="0" anchor="ctr"/>
          <a:lstStyle/>
          <a:p>
            <a:pPr algn="ctr">
              <a:spcBef>
                <a:spcPts val="0"/>
              </a:spcBef>
              <a:spcAft>
                <a:spcPts val="0"/>
              </a:spcAft>
            </a:pPr>
            <a:r>
              <a:rPr sz="1600" b="1" i="0">
                <a:solidFill>
                  <a:srgbClr val="F6F3EC"/>
                </a:solidFill>
                <a:latin typeface="Calibri"/>
                <a:ea typeface="Calibri"/>
                <a:cs typeface="Calibri"/>
              </a:rPr>
              <a:t>Framework</a:t>
            </a:r>
          </a:p>
        </p:txBody>
      </p:sp>
      <p:sp>
        <p:nvSpPr>
          <p:cNvPr id="12" name="TextBox 11"/>
          <p:cNvSpPr txBox="1"/>
          <p:nvPr/>
        </p:nvSpPr>
        <p:spPr>
          <a:xfrm>
            <a:off x="2331720" y="2560320"/>
            <a:ext cx="9235440" cy="960120"/>
          </a:xfrm>
          <a:prstGeom prst="rect">
            <a:avLst/>
          </a:prstGeom>
          <a:noFill/>
        </p:spPr>
        <p:txBody>
          <a:bodyPr wrap="square" lIns="0" tIns="0" rIns="0" bIns="0" anchor="ctr"/>
          <a:lstStyle/>
          <a:p>
            <a:pPr algn="l">
              <a:spcBef>
                <a:spcPts val="0"/>
              </a:spcBef>
              <a:spcAft>
                <a:spcPts val="0"/>
              </a:spcAft>
            </a:pPr>
            <a:r>
              <a:rPr sz="1800" b="0" i="0">
                <a:solidFill>
                  <a:srgbClr val="1C1915"/>
                </a:solidFill>
                <a:latin typeface="Calibri"/>
                <a:ea typeface="Calibri"/>
                <a:cs typeface="Calibri"/>
              </a:rPr>
              <a:t>.specify/, BMAD skill names, and .squad/ stay behind when you leave.</a:t>
            </a:r>
          </a:p>
        </p:txBody>
      </p:sp>
      <p:sp>
        <p:nvSpPr>
          <p:cNvPr id="13" name="Rounded Rectangle 12"/>
          <p:cNvSpPr/>
          <p:nvPr/>
        </p:nvSpPr>
        <p:spPr>
          <a:xfrm>
            <a:off x="566928" y="3703320"/>
            <a:ext cx="1554480" cy="960120"/>
          </a:xfrm>
          <a:prstGeom prst="roundRect">
            <a:avLst>
              <a:gd name="adj" fmla="val 1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3703320"/>
            <a:ext cx="1554480" cy="960120"/>
          </a:xfrm>
          <a:prstGeom prst="rect">
            <a:avLst/>
          </a:prstGeom>
          <a:noFill/>
        </p:spPr>
        <p:txBody>
          <a:bodyPr wrap="square" lIns="0" tIns="0" rIns="0" bIns="0" anchor="ctr"/>
          <a:lstStyle/>
          <a:p>
            <a:pPr algn="ctr">
              <a:spcBef>
                <a:spcPts val="0"/>
              </a:spcBef>
              <a:spcAft>
                <a:spcPts val="0"/>
              </a:spcAft>
            </a:pPr>
            <a:r>
              <a:rPr sz="1600" b="1" i="0">
                <a:solidFill>
                  <a:srgbClr val="F6F3EC"/>
                </a:solidFill>
                <a:latin typeface="Calibri"/>
                <a:ea typeface="Calibri"/>
                <a:cs typeface="Calibri"/>
              </a:rPr>
              <a:t>Markdown</a:t>
            </a:r>
          </a:p>
        </p:txBody>
      </p:sp>
      <p:sp>
        <p:nvSpPr>
          <p:cNvPr id="15" name="TextBox 14"/>
          <p:cNvSpPr txBox="1"/>
          <p:nvPr/>
        </p:nvSpPr>
        <p:spPr>
          <a:xfrm>
            <a:off x="2331720" y="3703320"/>
            <a:ext cx="9235440" cy="960120"/>
          </a:xfrm>
          <a:prstGeom prst="rect">
            <a:avLst/>
          </a:prstGeom>
          <a:noFill/>
        </p:spPr>
        <p:txBody>
          <a:bodyPr wrap="square" lIns="0" tIns="0" rIns="0" bIns="0" anchor="ctr"/>
          <a:lstStyle/>
          <a:p>
            <a:pPr algn="l">
              <a:spcBef>
                <a:spcPts val="0"/>
              </a:spcBef>
              <a:spcAft>
                <a:spcPts val="0"/>
              </a:spcAft>
            </a:pPr>
            <a:r>
              <a:rPr sz="1800" b="0" i="0">
                <a:solidFill>
                  <a:srgbClr val="1C1915"/>
                </a:solidFill>
                <a:latin typeface="Calibri"/>
                <a:ea typeface="Calibri"/>
                <a:cs typeface="Calibri"/>
              </a:rPr>
              <a:t>Context, plan, and roadmap move to the next harness. That lock-in is cheap.</a:t>
            </a:r>
          </a:p>
        </p:txBody>
      </p:sp>
      <p:sp>
        <p:nvSpPr>
          <p:cNvPr id="16" name="TextBox 15"/>
          <p:cNvSpPr txBox="1"/>
          <p:nvPr/>
        </p:nvSpPr>
        <p:spPr>
          <a:xfrm>
            <a:off x="566928" y="4937760"/>
            <a:ext cx="11064240" cy="640080"/>
          </a:xfrm>
          <a:prstGeom prst="rect">
            <a:avLst/>
          </a:prstGeom>
          <a:noFill/>
        </p:spPr>
        <p:txBody>
          <a:bodyPr wrap="square" lIns="0" tIns="0" rIns="0" bIns="0" anchor="t"/>
          <a:lstStyle/>
          <a:p>
            <a:pPr algn="l">
              <a:spcBef>
                <a:spcPts val="0"/>
              </a:spcBef>
              <a:spcAft>
                <a:spcPts val="0"/>
              </a:spcAft>
            </a:pPr>
            <a:r>
              <a:rPr sz="1400" b="0" i="0">
                <a:solidFill>
                  <a:srgbClr val="6B645C"/>
                </a:solidFill>
                <a:latin typeface="Calibri"/>
                <a:ea typeface="Calibri"/>
                <a:cs typeface="Calibri"/>
              </a:rPr>
              <a:t>All four repos were pushed on 5 or 6 Oct 2026. BMAD renamed its build command in August and is shimming skills toward a v7 cut.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14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RECOMMENDATION</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How a requirement moves</a:t>
            </a:r>
          </a:p>
        </p:txBody>
      </p:sp>
      <p:sp>
        <p:nvSpPr>
          <p:cNvPr id="7" name="Rounded Rectangle 6"/>
          <p:cNvSpPr/>
          <p:nvPr/>
        </p:nvSpPr>
        <p:spPr>
          <a:xfrm>
            <a:off x="457200" y="1371600"/>
            <a:ext cx="2015337" cy="475488"/>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400" b="1" i="0">
                <a:solidFill>
                  <a:srgbClr val="1C1915"/>
                </a:solidFill>
                <a:latin typeface="Calibri"/>
                <a:ea typeface="Calibri"/>
                <a:cs typeface="Calibri"/>
              </a:rPr>
              <a:t>BA requirement</a:t>
            </a:r>
          </a:p>
        </p:txBody>
      </p:sp>
      <p:sp>
        <p:nvSpPr>
          <p:cNvPr id="8" name="TextBox 7"/>
          <p:cNvSpPr txBox="1"/>
          <p:nvPr/>
        </p:nvSpPr>
        <p:spPr>
          <a:xfrm>
            <a:off x="2472537" y="1371600"/>
            <a:ext cx="292608" cy="475488"/>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9" name="Rounded Rectangle 8"/>
          <p:cNvSpPr/>
          <p:nvPr/>
        </p:nvSpPr>
        <p:spPr>
          <a:xfrm>
            <a:off x="2765145" y="1371600"/>
            <a:ext cx="2015337" cy="475488"/>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400" b="1" i="0">
                <a:solidFill>
                  <a:srgbClr val="1C1915"/>
                </a:solidFill>
                <a:latin typeface="Calibri"/>
                <a:ea typeface="Calibri"/>
                <a:cs typeface="Calibri"/>
              </a:rPr>
              <a:t>Plan.md</a:t>
            </a:r>
          </a:p>
        </p:txBody>
      </p:sp>
      <p:sp>
        <p:nvSpPr>
          <p:cNvPr id="10" name="TextBox 9"/>
          <p:cNvSpPr txBox="1"/>
          <p:nvPr/>
        </p:nvSpPr>
        <p:spPr>
          <a:xfrm>
            <a:off x="4780483" y="1371600"/>
            <a:ext cx="292608" cy="475488"/>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1" name="Rounded Rectangle 10"/>
          <p:cNvSpPr/>
          <p:nvPr/>
        </p:nvSpPr>
        <p:spPr>
          <a:xfrm>
            <a:off x="5073091" y="1371600"/>
            <a:ext cx="2015337" cy="475488"/>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400" b="1" i="0">
                <a:solidFill>
                  <a:srgbClr val="1C1915"/>
                </a:solidFill>
                <a:latin typeface="Calibri"/>
                <a:ea typeface="Calibri"/>
                <a:cs typeface="Calibri"/>
              </a:rPr>
              <a:t>Build</a:t>
            </a:r>
          </a:p>
        </p:txBody>
      </p:sp>
      <p:sp>
        <p:nvSpPr>
          <p:cNvPr id="12" name="TextBox 11"/>
          <p:cNvSpPr txBox="1"/>
          <p:nvPr/>
        </p:nvSpPr>
        <p:spPr>
          <a:xfrm>
            <a:off x="7088428" y="1371600"/>
            <a:ext cx="292608" cy="475488"/>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3" name="Rounded Rectangle 12"/>
          <p:cNvSpPr/>
          <p:nvPr/>
        </p:nvSpPr>
        <p:spPr>
          <a:xfrm>
            <a:off x="7381036" y="1371600"/>
            <a:ext cx="2015337" cy="475488"/>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400" b="1" i="0">
                <a:solidFill>
                  <a:srgbClr val="1C1915"/>
                </a:solidFill>
                <a:latin typeface="Calibri"/>
                <a:ea typeface="Calibri"/>
                <a:cs typeface="Calibri"/>
              </a:rPr>
              <a:t>Check</a:t>
            </a:r>
          </a:p>
        </p:txBody>
      </p:sp>
      <p:sp>
        <p:nvSpPr>
          <p:cNvPr id="14" name="TextBox 13"/>
          <p:cNvSpPr txBox="1"/>
          <p:nvPr/>
        </p:nvSpPr>
        <p:spPr>
          <a:xfrm>
            <a:off x="9396374" y="1371600"/>
            <a:ext cx="292608" cy="475488"/>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5" name="Rounded Rectangle 14"/>
          <p:cNvSpPr/>
          <p:nvPr/>
        </p:nvSpPr>
        <p:spPr>
          <a:xfrm>
            <a:off x="9688982" y="1371600"/>
            <a:ext cx="2015337" cy="475488"/>
          </a:xfrm>
          <a:prstGeom prst="roundRect">
            <a:avLst>
              <a:gd name="adj" fmla="val 5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400" b="1" i="0">
                <a:solidFill>
                  <a:srgbClr val="F6F3EC"/>
                </a:solidFill>
                <a:latin typeface="Calibri"/>
                <a:ea typeface="Calibri"/>
                <a:cs typeface="Calibri"/>
              </a:rPr>
              <a:t>Roadmap</a:t>
            </a:r>
          </a:p>
        </p:txBody>
      </p:sp>
      <p:sp>
        <p:nvSpPr>
          <p:cNvPr id="16" name="Rounded Rectangle 15"/>
          <p:cNvSpPr/>
          <p:nvPr/>
        </p:nvSpPr>
        <p:spPr>
          <a:xfrm>
            <a:off x="566928" y="2103120"/>
            <a:ext cx="3566160" cy="22402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1200"/>
              </a:spcAft>
            </a:pPr>
            <a:r>
              <a:rPr sz="2200" b="1" i="0">
                <a:solidFill>
                  <a:srgbClr val="0E4B48"/>
                </a:solidFill>
                <a:latin typeface="Calibri"/>
                <a:ea typeface="Calibri"/>
                <a:cs typeface="Calibri"/>
              </a:rPr>
              <a:t>Context.md</a:t>
            </a:r>
          </a:p>
          <a:p>
            <a:pPr algn="l">
              <a:spcBef>
                <a:spcPts val="0"/>
              </a:spcBef>
              <a:spcAft>
                <a:spcPts val="0"/>
              </a:spcAft>
            </a:pPr>
            <a:r>
              <a:rPr sz="1800" b="0" i="0">
                <a:solidFill>
                  <a:srgbClr val="1C1915"/>
                </a:solidFill>
                <a:latin typeface="Calibri"/>
                <a:ea typeface="Calibri"/>
                <a:cs typeface="Calibri"/>
              </a:rPr>
              <a:t>Durable facts. Correct it when it is wrong. Do not let it become a second codebase.</a:t>
            </a:r>
          </a:p>
        </p:txBody>
      </p:sp>
      <p:sp>
        <p:nvSpPr>
          <p:cNvPr id="17" name="Rounded Rectangle 16"/>
          <p:cNvSpPr/>
          <p:nvPr/>
        </p:nvSpPr>
        <p:spPr>
          <a:xfrm>
            <a:off x="4315968" y="2103120"/>
            <a:ext cx="3566160" cy="22402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1200"/>
              </a:spcAft>
            </a:pPr>
            <a:r>
              <a:rPr sz="2200" b="1" i="0">
                <a:solidFill>
                  <a:srgbClr val="0E4B48"/>
                </a:solidFill>
                <a:latin typeface="Calibri"/>
                <a:ea typeface="Calibri"/>
                <a:cs typeface="Calibri"/>
              </a:rPr>
              <a:t>Plan.md</a:t>
            </a:r>
          </a:p>
          <a:p>
            <a:pPr algn="l">
              <a:spcBef>
                <a:spcPts val="0"/>
              </a:spcBef>
              <a:spcAft>
                <a:spcPts val="0"/>
              </a:spcAft>
            </a:pPr>
            <a:r>
              <a:rPr sz="1800" b="0" i="0">
                <a:solidFill>
                  <a:srgbClr val="1C1915"/>
                </a:solidFill>
                <a:latin typeface="Calibri"/>
                <a:ea typeface="Calibri"/>
                <a:cs typeface="Calibri"/>
              </a:rPr>
              <a:t>One change. The requirement is the input. Acceptance is the check.</a:t>
            </a:r>
          </a:p>
        </p:txBody>
      </p:sp>
      <p:sp>
        <p:nvSpPr>
          <p:cNvPr id="18" name="Rounded Rectangle 17"/>
          <p:cNvSpPr/>
          <p:nvPr/>
        </p:nvSpPr>
        <p:spPr>
          <a:xfrm>
            <a:off x="8065007" y="2103120"/>
            <a:ext cx="3566160" cy="2240280"/>
          </a:xfrm>
          <a:prstGeom prst="roundRect">
            <a:avLst>
              <a:gd name="adj" fmla="val 8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1200"/>
              </a:spcAft>
            </a:pPr>
            <a:r>
              <a:rPr sz="2200" b="1" i="0">
                <a:solidFill>
                  <a:srgbClr val="0E4B48"/>
                </a:solidFill>
                <a:latin typeface="Calibri"/>
                <a:ea typeface="Calibri"/>
                <a:cs typeface="Calibri"/>
              </a:rPr>
              <a:t>Roadmap.md</a:t>
            </a:r>
          </a:p>
          <a:p>
            <a:pPr algn="l">
              <a:spcBef>
                <a:spcPts val="0"/>
              </a:spcBef>
              <a:spcAft>
                <a:spcPts val="0"/>
              </a:spcAft>
            </a:pPr>
            <a:r>
              <a:rPr sz="1800" b="0" i="0">
                <a:solidFill>
                  <a:srgbClr val="1C1915"/>
                </a:solidFill>
                <a:latin typeface="Calibri"/>
                <a:ea typeface="Calibri"/>
                <a:cs typeface="Calibri"/>
              </a:rPr>
              <a:t>The agile record. Update the status when the item is done. It is not a freeze.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15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ONE METHOD</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Same loop, both codebases</a:t>
            </a:r>
          </a:p>
        </p:txBody>
      </p:sp>
      <p:sp>
        <p:nvSpPr>
          <p:cNvPr id="7" name="Rounded Rectangle 6"/>
          <p:cNvSpPr/>
          <p:nvPr/>
        </p:nvSpPr>
        <p:spPr>
          <a:xfrm>
            <a:off x="566928" y="1417320"/>
            <a:ext cx="5486400" cy="4297680"/>
          </a:xfrm>
          <a:prstGeom prst="roundRect">
            <a:avLst>
              <a:gd name="adj" fmla="val 6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400" b="1" i="0">
                <a:solidFill>
                  <a:srgbClr val="0E4B48"/>
                </a:solidFill>
                <a:latin typeface="Calibri"/>
                <a:ea typeface="Calibri"/>
                <a:cs typeface="Calibri"/>
              </a:rPr>
              <a:t>Greenfield</a:t>
            </a:r>
          </a:p>
          <a:p>
            <a:pPr algn="l">
              <a:spcBef>
                <a:spcPts val="0"/>
              </a:spcBef>
              <a:spcAft>
                <a:spcPts val="1200"/>
              </a:spcAft>
            </a:pPr>
            <a:r>
              <a:rPr sz="2400" b="1" i="0">
                <a:solidFill>
                  <a:srgbClr val="1C1915"/>
                </a:solidFill>
                <a:latin typeface="Calibri"/>
                <a:ea typeface="Calibri"/>
                <a:cs typeface="Calibri"/>
              </a:rPr>
              <a:t>Context is the decisions.</a:t>
            </a:r>
          </a:p>
          <a:p>
            <a:pPr algn="l">
              <a:spcBef>
                <a:spcPts val="0"/>
              </a:spcBef>
              <a:spcAft>
                <a:spcPts val="0"/>
              </a:spcAft>
            </a:pPr>
            <a:r>
              <a:rPr sz="1800" b="0" i="0">
                <a:solidFill>
                  <a:srgbClr val="1C1915"/>
                </a:solidFill>
                <a:latin typeface="Calibri"/>
                <a:ea typeface="Calibri"/>
                <a:cs typeface="Calibri"/>
              </a:rPr>
              <a:t>Write a fact when it sticks. Plan the change you were given. Mark the roadmap when it ships.</a:t>
            </a:r>
          </a:p>
        </p:txBody>
      </p:sp>
      <p:sp>
        <p:nvSpPr>
          <p:cNvPr id="8" name="Rounded Rectangle 7"/>
          <p:cNvSpPr/>
          <p:nvPr/>
        </p:nvSpPr>
        <p:spPr>
          <a:xfrm>
            <a:off x="6236208" y="1417320"/>
            <a:ext cx="5394960" cy="4297680"/>
          </a:xfrm>
          <a:prstGeom prst="roundRect">
            <a:avLst>
              <a:gd name="adj" fmla="val 6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400" b="1" i="0">
                <a:solidFill>
                  <a:srgbClr val="E4F0EE"/>
                </a:solidFill>
                <a:latin typeface="Calibri"/>
                <a:ea typeface="Calibri"/>
                <a:cs typeface="Calibri"/>
              </a:rPr>
              <a:t>Brownfield</a:t>
            </a:r>
          </a:p>
          <a:p>
            <a:pPr algn="l">
              <a:spcBef>
                <a:spcPts val="0"/>
              </a:spcBef>
              <a:spcAft>
                <a:spcPts val="1200"/>
              </a:spcAft>
            </a:pPr>
            <a:r>
              <a:rPr sz="2400" b="1" i="0">
                <a:solidFill>
                  <a:srgbClr val="F6F3EC"/>
                </a:solidFill>
                <a:latin typeface="Calibri"/>
                <a:ea typeface="Calibri"/>
                <a:cs typeface="Calibri"/>
              </a:rPr>
              <a:t>Context is verified from the code.</a:t>
            </a:r>
          </a:p>
          <a:p>
            <a:pPr algn="l">
              <a:spcBef>
                <a:spcPts val="0"/>
              </a:spcBef>
              <a:spcAft>
                <a:spcPts val="0"/>
              </a:spcAft>
            </a:pPr>
            <a:r>
              <a:rPr sz="1800" b="0" i="0">
                <a:solidFill>
                  <a:srgbClr val="F6F3EC"/>
                </a:solidFill>
                <a:latin typeface="Calibri"/>
                <a:ea typeface="Calibri"/>
                <a:cs typeface="Calibri"/>
              </a:rPr>
              <a:t>A short checked context. A plan for the next change. Restating the system creates a second, staler source.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16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CAVEAT</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If the requirement is unknown</a:t>
            </a:r>
          </a:p>
        </p:txBody>
      </p:sp>
      <p:sp>
        <p:nvSpPr>
          <p:cNvPr id="7" name="TextBox 6"/>
          <p:cNvSpPr txBox="1"/>
          <p:nvPr/>
        </p:nvSpPr>
        <p:spPr>
          <a:xfrm>
            <a:off x="566928" y="1371600"/>
            <a:ext cx="11064240" cy="1188720"/>
          </a:xfrm>
          <a:prstGeom prst="rect">
            <a:avLst/>
          </a:prstGeom>
          <a:noFill/>
        </p:spPr>
        <p:txBody>
          <a:bodyPr wrap="square" lIns="0" tIns="0" rIns="0" bIns="0" anchor="t"/>
          <a:lstStyle/>
          <a:p>
            <a:pPr algn="l">
              <a:spcBef>
                <a:spcPts val="0"/>
              </a:spcBef>
              <a:spcAft>
                <a:spcPts val="0"/>
              </a:spcAft>
            </a:pPr>
            <a:r>
              <a:rPr sz="2800" b="1" i="0">
                <a:solidFill>
                  <a:srgbClr val="1C1915"/>
                </a:solidFill>
                <a:latin typeface="Calibri"/>
                <a:ea typeface="Calibri"/>
                <a:cs typeface="Calibri"/>
              </a:rPr>
              <a:t>Discover until the change is bounded.
Then write the plan.</a:t>
            </a:r>
          </a:p>
        </p:txBody>
      </p:sp>
      <p:sp>
        <p:nvSpPr>
          <p:cNvPr id="8" name="Rounded Rectangle 7"/>
          <p:cNvSpPr/>
          <p:nvPr/>
        </p:nvSpPr>
        <p:spPr>
          <a:xfrm>
            <a:off x="566928" y="2834640"/>
            <a:ext cx="3493008" cy="512064"/>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800" b="1" i="0">
                <a:solidFill>
                  <a:srgbClr val="1C1915"/>
                </a:solidFill>
                <a:latin typeface="Calibri"/>
                <a:ea typeface="Calibri"/>
                <a:cs typeface="Calibri"/>
              </a:rPr>
              <a:t>Ask</a:t>
            </a:r>
          </a:p>
        </p:txBody>
      </p:sp>
      <p:sp>
        <p:nvSpPr>
          <p:cNvPr id="9" name="TextBox 8"/>
          <p:cNvSpPr txBox="1"/>
          <p:nvPr/>
        </p:nvSpPr>
        <p:spPr>
          <a:xfrm>
            <a:off x="4059935" y="2834640"/>
            <a:ext cx="292608" cy="512064"/>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0" name="Rounded Rectangle 9"/>
          <p:cNvSpPr/>
          <p:nvPr/>
        </p:nvSpPr>
        <p:spPr>
          <a:xfrm>
            <a:off x="4352544" y="2834640"/>
            <a:ext cx="3493008" cy="512064"/>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800" b="1" i="0">
                <a:solidFill>
                  <a:srgbClr val="1C1915"/>
                </a:solidFill>
                <a:latin typeface="Calibri"/>
                <a:ea typeface="Calibri"/>
                <a:cs typeface="Calibri"/>
              </a:rPr>
              <a:t>Bound the change</a:t>
            </a:r>
          </a:p>
        </p:txBody>
      </p:sp>
      <p:sp>
        <p:nvSpPr>
          <p:cNvPr id="11" name="TextBox 10"/>
          <p:cNvSpPr txBox="1"/>
          <p:nvPr/>
        </p:nvSpPr>
        <p:spPr>
          <a:xfrm>
            <a:off x="7845552" y="2834640"/>
            <a:ext cx="292608" cy="512064"/>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2" name="Rounded Rectangle 11"/>
          <p:cNvSpPr/>
          <p:nvPr/>
        </p:nvSpPr>
        <p:spPr>
          <a:xfrm>
            <a:off x="8138159" y="2834640"/>
            <a:ext cx="3493008" cy="512064"/>
          </a:xfrm>
          <a:prstGeom prst="roundRect">
            <a:avLst>
              <a:gd name="adj" fmla="val 5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800" b="1" i="0">
                <a:solidFill>
                  <a:srgbClr val="F6F3EC"/>
                </a:solidFill>
                <a:latin typeface="Calibri"/>
                <a:ea typeface="Calibri"/>
                <a:cs typeface="Calibri"/>
              </a:rPr>
              <a:t>Plan.md</a:t>
            </a:r>
          </a:p>
        </p:txBody>
      </p:sp>
      <p:sp>
        <p:nvSpPr>
          <p:cNvPr id="13" name="TextBox 12"/>
          <p:cNvSpPr txBox="1"/>
          <p:nvPr/>
        </p:nvSpPr>
        <p:spPr>
          <a:xfrm>
            <a:off x="566928" y="3657600"/>
            <a:ext cx="11064240" cy="1280160"/>
          </a:xfrm>
          <a:prstGeom prst="rect">
            <a:avLst/>
          </a:prstGeom>
          <a:noFill/>
        </p:spPr>
        <p:txBody>
          <a:bodyPr wrap="square" lIns="0" tIns="0" rIns="0" bIns="0" anchor="t"/>
          <a:lstStyle/>
          <a:p>
            <a:pPr algn="l">
              <a:spcBef>
                <a:spcPts val="0"/>
              </a:spcBef>
              <a:spcAft>
                <a:spcPts val="0"/>
              </a:spcAft>
            </a:pPr>
            <a:r>
              <a:rPr sz="1800" b="0" i="0">
                <a:solidFill>
                  <a:srgbClr val="6B645C"/>
                </a:solidFill>
                <a:latin typeface="Calibri"/>
                <a:ea typeface="Calibri"/>
                <a:cs typeface="Calibri"/>
              </a:rPr>
              <a:t>Uncommon when a product team is feeding the work. Fatal when it is skipped. Every framework fails here the same way: a thick spec made of guesses is still a guess.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17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CONCESSION</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If you still want a package</a:t>
            </a:r>
          </a:p>
        </p:txBody>
      </p:sp>
      <p:sp>
        <p:nvSpPr>
          <p:cNvPr id="7" name="Rounded Rectangle 6"/>
          <p:cNvSpPr/>
          <p:nvPr/>
        </p:nvSpPr>
        <p:spPr>
          <a:xfrm>
            <a:off x="566928" y="1417320"/>
            <a:ext cx="5486400" cy="4297680"/>
          </a:xfrm>
          <a:prstGeom prst="roundRect">
            <a:avLst>
              <a:gd name="adj" fmla="val 6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400" b="1" i="0">
                <a:solidFill>
                  <a:srgbClr val="E4F0EE"/>
                </a:solidFill>
                <a:latin typeface="Calibri"/>
                <a:ea typeface="Calibri"/>
                <a:cs typeface="Calibri"/>
              </a:rPr>
              <a:t>Use</a:t>
            </a:r>
          </a:p>
          <a:p>
            <a:pPr algn="l">
              <a:spcBef>
                <a:spcPts val="0"/>
              </a:spcBef>
              <a:spcAft>
                <a:spcPts val="1200"/>
              </a:spcAft>
            </a:pPr>
            <a:r>
              <a:rPr sz="2600" b="1" i="0">
                <a:solidFill>
                  <a:srgbClr val="F6F3EC"/>
                </a:solidFill>
                <a:latin typeface="Calibri"/>
                <a:ea typeface="Calibri"/>
                <a:cs typeface="Calibri"/>
              </a:rPr>
              <a:t>Spec Kit’s core loop.</a:t>
            </a:r>
          </a:p>
          <a:p>
            <a:pPr algn="l">
              <a:spcBef>
                <a:spcPts val="0"/>
              </a:spcBef>
              <a:spcAft>
                <a:spcPts val="0"/>
              </a:spcAft>
            </a:pPr>
            <a:r>
              <a:rPr sz="1600" b="0" i="0">
                <a:solidFill>
                  <a:srgbClr val="F6F3EC"/>
                </a:solidFill>
                <a:latin typeface="Calibri"/>
                <a:ea typeface="Calibri"/>
                <a:cs typeface="Calibri"/>
              </a:rPr>
              <a:t>Specify, plan, tasks, implement, converge. One feature at a time. Their five-step cousin in BMAD is the same short spec: why, capabilities, constraints, non-goals, success.</a:t>
            </a:r>
          </a:p>
        </p:txBody>
      </p:sp>
      <p:sp>
        <p:nvSpPr>
          <p:cNvPr id="8" name="Rounded Rectangle 7"/>
          <p:cNvSpPr/>
          <p:nvPr/>
        </p:nvSpPr>
        <p:spPr>
          <a:xfrm>
            <a:off x="6236208" y="1417320"/>
            <a:ext cx="5394960" cy="4297680"/>
          </a:xfrm>
          <a:prstGeom prst="roundRect">
            <a:avLst>
              <a:gd name="adj" fmla="val 6000"/>
            </a:avLst>
          </a:prstGeom>
          <a:solidFill>
            <a:srgbClr val="FFFCF7"/>
          </a:solidFill>
          <a:ln w="12700">
            <a:solidFill>
              <a:srgbClr val="E0D9CC"/>
            </a:solid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spcBef>
                <a:spcPts val="0"/>
              </a:spcBef>
              <a:spcAft>
                <a:spcPts val="800"/>
              </a:spcAft>
            </a:pPr>
            <a:r>
              <a:rPr sz="1400" b="1" i="0">
                <a:solidFill>
                  <a:srgbClr val="0E4B48"/>
                </a:solidFill>
                <a:latin typeface="Calibri"/>
                <a:ea typeface="Calibri"/>
                <a:cs typeface="Calibri"/>
              </a:rPr>
              <a:t>Leave off</a:t>
            </a:r>
          </a:p>
          <a:p>
            <a:pPr algn="l">
              <a:spcBef>
                <a:spcPts val="0"/>
              </a:spcBef>
              <a:spcAft>
                <a:spcPts val="1200"/>
              </a:spcAft>
            </a:pPr>
            <a:r>
              <a:rPr sz="2600" b="1" i="0">
                <a:solidFill>
                  <a:srgbClr val="1C1915"/>
                </a:solidFill>
                <a:latin typeface="Calibri"/>
                <a:ea typeface="Calibri"/>
                <a:cs typeface="Calibri"/>
              </a:rPr>
              <a:t>The extra machinery.</a:t>
            </a:r>
          </a:p>
          <a:p>
            <a:pPr algn="l">
              <a:spcBef>
                <a:spcPts val="0"/>
              </a:spcBef>
              <a:spcAft>
                <a:spcPts val="0"/>
              </a:spcAft>
            </a:pPr>
            <a:r>
              <a:rPr sz="1600" b="0" i="0">
                <a:solidFill>
                  <a:srgbClr val="6B645C"/>
                </a:solidFill>
                <a:latin typeface="Calibri"/>
                <a:ea typeface="Calibri"/>
                <a:cs typeface="Calibri"/>
              </a:rPr>
              <a:t>Gates you do not need. A constitution you do not mean. A roster adopted to grow a better tester. BMAD’s full path for a change you already understand.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18  /  20</a:t>
            </a:r>
          </a:p>
        </p:txBody>
      </p:sp>
      <p:sp>
        <p:nvSpPr>
          <p:cNvPr id="5" name="TextBox 4"/>
          <p:cNvSpPr txBox="1"/>
          <p:nvPr/>
        </p:nvSpPr>
        <p:spPr>
          <a:xfrm>
            <a:off x="640080" y="1325880"/>
            <a:ext cx="10972800" cy="274320"/>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CLOSE</a:t>
            </a:r>
          </a:p>
        </p:txBody>
      </p:sp>
      <p:sp>
        <p:nvSpPr>
          <p:cNvPr id="6" name="TextBox 5"/>
          <p:cNvSpPr txBox="1"/>
          <p:nvPr/>
        </p:nvSpPr>
        <p:spPr>
          <a:xfrm>
            <a:off x="640080" y="1737360"/>
            <a:ext cx="10972800" cy="640080"/>
          </a:xfrm>
          <a:prstGeom prst="rect">
            <a:avLst/>
          </a:prstGeom>
          <a:noFill/>
        </p:spPr>
        <p:txBody>
          <a:bodyPr wrap="square" lIns="0" tIns="0" rIns="0" bIns="0" anchor="t"/>
          <a:lstStyle/>
          <a:p>
            <a:pPr algn="l">
              <a:spcBef>
                <a:spcPts val="0"/>
              </a:spcBef>
              <a:spcAft>
                <a:spcPts val="0"/>
              </a:spcAft>
            </a:pPr>
            <a:r>
              <a:rPr sz="4000" b="1" i="0">
                <a:solidFill>
                  <a:srgbClr val="1C1915"/>
                </a:solidFill>
                <a:latin typeface="Calibri"/>
                <a:ea typeface="Calibri"/>
                <a:cs typeface="Calibri"/>
              </a:rPr>
              <a:t>Keep the plan current.</a:t>
            </a:r>
          </a:p>
        </p:txBody>
      </p:sp>
      <p:sp>
        <p:nvSpPr>
          <p:cNvPr id="7" name="TextBox 6"/>
          <p:cNvSpPr txBox="1"/>
          <p:nvPr/>
        </p:nvSpPr>
        <p:spPr>
          <a:xfrm>
            <a:off x="640080" y="2514600"/>
            <a:ext cx="10972800" cy="502920"/>
          </a:xfrm>
          <a:prstGeom prst="rect">
            <a:avLst/>
          </a:prstGeom>
          <a:noFill/>
        </p:spPr>
        <p:txBody>
          <a:bodyPr wrap="square" lIns="0" tIns="0" rIns="0" bIns="0" anchor="t"/>
          <a:lstStyle/>
          <a:p>
            <a:pPr algn="l">
              <a:spcBef>
                <a:spcPts val="0"/>
              </a:spcBef>
              <a:spcAft>
                <a:spcPts val="0"/>
              </a:spcAft>
            </a:pPr>
            <a:r>
              <a:rPr sz="2800" b="0" i="0">
                <a:solidFill>
                  <a:srgbClr val="6B645C"/>
                </a:solidFill>
                <a:latin typeface="Calibri"/>
                <a:ea typeface="Calibri"/>
                <a:cs typeface="Calibri"/>
              </a:rPr>
              <a:t>Do not adopt a department of prompts.</a:t>
            </a:r>
          </a:p>
        </p:txBody>
      </p:sp>
      <p:sp>
        <p:nvSpPr>
          <p:cNvPr id="8" name="Rounded Rectangle 7"/>
          <p:cNvSpPr/>
          <p:nvPr/>
        </p:nvSpPr>
        <p:spPr>
          <a:xfrm>
            <a:off x="640080" y="3657600"/>
            <a:ext cx="3432048" cy="54864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800" b="1" i="0">
                <a:solidFill>
                  <a:srgbClr val="1C1915"/>
                </a:solidFill>
                <a:latin typeface="Calibri"/>
                <a:ea typeface="Calibri"/>
                <a:cs typeface="Calibri"/>
              </a:rPr>
              <a:t>Context.md</a:t>
            </a:r>
          </a:p>
        </p:txBody>
      </p:sp>
      <p:sp>
        <p:nvSpPr>
          <p:cNvPr id="9" name="TextBox 8"/>
          <p:cNvSpPr txBox="1"/>
          <p:nvPr/>
        </p:nvSpPr>
        <p:spPr>
          <a:xfrm>
            <a:off x="4072128" y="3657600"/>
            <a:ext cx="292608" cy="54864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0" name="Rounded Rectangle 9"/>
          <p:cNvSpPr/>
          <p:nvPr/>
        </p:nvSpPr>
        <p:spPr>
          <a:xfrm>
            <a:off x="4364736" y="3657600"/>
            <a:ext cx="3432048" cy="548640"/>
          </a:xfrm>
          <a:prstGeom prst="roundRect">
            <a:avLst>
              <a:gd name="adj" fmla="val 50000"/>
            </a:avLst>
          </a:prstGeom>
          <a:solidFill>
            <a:srgbClr val="E4F0EE"/>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800" b="1" i="0">
                <a:solidFill>
                  <a:srgbClr val="1C1915"/>
                </a:solidFill>
                <a:latin typeface="Calibri"/>
                <a:ea typeface="Calibri"/>
                <a:cs typeface="Calibri"/>
              </a:rPr>
              <a:t>Plan.md</a:t>
            </a:r>
          </a:p>
        </p:txBody>
      </p:sp>
      <p:sp>
        <p:nvSpPr>
          <p:cNvPr id="11" name="TextBox 10"/>
          <p:cNvSpPr txBox="1"/>
          <p:nvPr/>
        </p:nvSpPr>
        <p:spPr>
          <a:xfrm>
            <a:off x="7796784" y="3657600"/>
            <a:ext cx="292608" cy="548640"/>
          </a:xfrm>
          <a:prstGeom prst="rect">
            <a:avLst/>
          </a:prstGeom>
          <a:noFill/>
        </p:spPr>
        <p:txBody>
          <a:bodyPr wrap="square" lIns="0" tIns="0" rIns="0" bIns="0" anchor="ctr"/>
          <a:lstStyle/>
          <a:p>
            <a:pPr algn="ctr">
              <a:spcBef>
                <a:spcPts val="0"/>
              </a:spcBef>
              <a:spcAft>
                <a:spcPts val="0"/>
              </a:spcAft>
            </a:pPr>
            <a:r>
              <a:rPr sz="1600" b="1" i="0">
                <a:solidFill>
                  <a:srgbClr val="0E4B48"/>
                </a:solidFill>
                <a:latin typeface="Calibri"/>
                <a:ea typeface="Calibri"/>
                <a:cs typeface="Calibri"/>
              </a:rPr>
              <a:t>→</a:t>
            </a:r>
          </a:p>
        </p:txBody>
      </p:sp>
      <p:sp>
        <p:nvSpPr>
          <p:cNvPr id="12" name="Rounded Rectangle 11"/>
          <p:cNvSpPr/>
          <p:nvPr/>
        </p:nvSpPr>
        <p:spPr>
          <a:xfrm>
            <a:off x="8089391" y="3657600"/>
            <a:ext cx="3432048" cy="548640"/>
          </a:xfrm>
          <a:prstGeom prst="roundRect">
            <a:avLst>
              <a:gd name="adj" fmla="val 50000"/>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spcBef>
                <a:spcPts val="0"/>
              </a:spcBef>
              <a:spcAft>
                <a:spcPts val="0"/>
              </a:spcAft>
            </a:pPr>
            <a:r>
              <a:rPr sz="1800" b="1" i="0">
                <a:solidFill>
                  <a:srgbClr val="F6F3EC"/>
                </a:solidFill>
                <a:latin typeface="Calibri"/>
                <a:ea typeface="Calibri"/>
                <a:cs typeface="Calibri"/>
              </a:rPr>
              <a:t>Roadmap.md</a:t>
            </a:r>
          </a:p>
        </p:txBody>
      </p:sp>
      <p:sp>
        <p:nvSpPr>
          <p:cNvPr id="13" name="TextBox 12"/>
          <p:cNvSpPr txBox="1"/>
          <p:nvPr/>
        </p:nvSpPr>
        <p:spPr>
          <a:xfrm>
            <a:off x="640080" y="4480560"/>
            <a:ext cx="10515600" cy="365760"/>
          </a:xfrm>
          <a:prstGeom prst="rect">
            <a:avLst/>
          </a:prstGeom>
          <a:noFill/>
        </p:spPr>
        <p:txBody>
          <a:bodyPr wrap="square" lIns="0" tIns="0" rIns="0" bIns="0" anchor="t"/>
          <a:lstStyle/>
          <a:p>
            <a:pPr algn="l">
              <a:spcBef>
                <a:spcPts val="0"/>
              </a:spcBef>
              <a:spcAft>
                <a:spcPts val="0"/>
              </a:spcAft>
            </a:pPr>
            <a:r>
              <a:rPr sz="1800" b="0" i="0">
                <a:solidFill>
                  <a:srgbClr val="6B645C"/>
                </a:solidFill>
                <a:latin typeface="Calibri"/>
                <a:ea typeface="Calibri"/>
                <a:cs typeface="Calibri"/>
              </a:rPr>
              <a:t>The files are the method. The harness is the one you already have.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19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APPENDIX</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Sources, retrieved 6 Oct 2026</a:t>
            </a:r>
          </a:p>
        </p:txBody>
      </p:sp>
      <p:sp>
        <p:nvSpPr>
          <p:cNvPr id="7" name="TextBox 6"/>
          <p:cNvSpPr txBox="1"/>
          <p:nvPr/>
        </p:nvSpPr>
        <p:spPr>
          <a:xfrm>
            <a:off x="566928" y="1325880"/>
            <a:ext cx="5440680" cy="4937760"/>
          </a:xfrm>
          <a:prstGeom prst="rect">
            <a:avLst/>
          </a:prstGeom>
          <a:noFill/>
        </p:spPr>
        <p:txBody>
          <a:bodyPr wrap="square" lIns="0" tIns="0" rIns="0" bIns="0" anchor="t"/>
          <a:lstStyle/>
          <a:p>
            <a:pPr algn="l">
              <a:spcBef>
                <a:spcPts val="0"/>
              </a:spcBef>
              <a:spcAft>
                <a:spcPts val="0"/>
              </a:spcAft>
            </a:pPr>
            <a:r>
              <a:rPr sz="1600" b="1" i="0">
                <a:solidFill>
                  <a:srgbClr val="0E4B48"/>
                </a:solidFill>
                <a:latin typeface="Calibri"/>
                <a:ea typeface="Calibri"/>
                <a:cs typeface="Calibri"/>
              </a:rPr>
              <a:t>Spec Kit</a:t>
            </a:r>
          </a:p>
          <a:p>
            <a:pPr algn="l">
              <a:spcBef>
                <a:spcPts val="300"/>
              </a:spcBef>
              <a:spcAft>
                <a:spcPts val="0"/>
              </a:spcAft>
            </a:pPr>
            <a:r>
              <a:rPr sz="1300" b="0" i="0">
                <a:solidFill>
                  <a:srgbClr val="1C1915"/>
                </a:solidFill>
                <a:latin typeface="Calibri"/>
                <a:ea typeface="Calibri"/>
                <a:cs typeface="Calibri"/>
              </a:rPr>
              <a:t>github.com/github/spec-kit — API 6 Oct 2026</a:t>
            </a:r>
          </a:p>
          <a:p>
            <a:pPr algn="l">
              <a:spcBef>
                <a:spcPts val="300"/>
              </a:spcBef>
              <a:spcAft>
                <a:spcPts val="0"/>
              </a:spcAft>
            </a:pPr>
            <a:r>
              <a:rPr sz="1300" b="0" i="0">
                <a:solidFill>
                  <a:srgbClr val="1C1915"/>
                </a:solidFill>
                <a:latin typeface="Calibri"/>
                <a:ea typeface="Calibri"/>
                <a:cs typeface="Calibri"/>
              </a:rPr>
              <a:t>140,313 stars. Created 21 Aug 2025. Pushed 5 Oct 2026. MIT.</a:t>
            </a:r>
          </a:p>
          <a:p>
            <a:pPr algn="l">
              <a:spcBef>
                <a:spcPts val="300"/>
              </a:spcBef>
              <a:spcAft>
                <a:spcPts val="0"/>
              </a:spcAft>
            </a:pPr>
            <a:r>
              <a:rPr sz="1300" b="0" i="0">
                <a:solidFill>
                  <a:srgbClr val="1C1915"/>
                </a:solidFill>
                <a:latin typeface="Calibri"/>
                <a:ea typeface="Calibri"/>
                <a:cs typeface="Calibri"/>
              </a:rPr>
              <a:t>Release v1.1.0 published 2 Oct 2026.</a:t>
            </a:r>
          </a:p>
          <a:p>
            <a:pPr algn="l">
              <a:spcBef>
                <a:spcPts val="300"/>
              </a:spcBef>
              <a:spcAft>
                <a:spcPts val="0"/>
              </a:spcAft>
            </a:pPr>
            <a:r>
              <a:rPr sz="1300" b="0" i="0">
                <a:solidFill>
                  <a:srgbClr val="1C1915"/>
                </a:solidFill>
                <a:latin typeface="Calibri"/>
                <a:ea typeface="Calibri"/>
                <a:cs typeface="Calibri"/>
              </a:rPr>
              <a:t>README: Python 3.11+, uv; constitution once; specify → plan → tasks → implement → converge.</a:t>
            </a:r>
          </a:p>
          <a:p>
            <a:pPr algn="l">
              <a:spcBef>
                <a:spcPts val="300"/>
              </a:spcBef>
              <a:spcAft>
                <a:spcPts val="0"/>
              </a:spcAft>
            </a:pPr>
            <a:r>
              <a:rPr sz="1300" b="0" i="0">
                <a:solidFill>
                  <a:srgbClr val="1C1915"/>
                </a:solidFill>
                <a:latin typeface="Calibri"/>
                <a:ea typeface="Calibri"/>
                <a:cs typeface="Calibri"/>
              </a:rPr>
              <a:t>Integrations table: 40 named agents, plus generic. Docs homepage still says 38 and 130K+ stars.</a:t>
            </a:r>
          </a:p>
          <a:p>
            <a:pPr algn="l">
              <a:spcBef>
                <a:spcPts val="300"/>
              </a:spcBef>
              <a:spcAft>
                <a:spcPts val="0"/>
              </a:spcAft>
            </a:pPr>
            <a:r>
              <a:rPr sz="1300" b="0" i="0">
                <a:solidFill>
                  <a:srgbClr val="1C1915"/>
                </a:solidFill>
                <a:latin typeface="Calibri"/>
                <a:ea typeface="Calibri"/>
                <a:cs typeface="Calibri"/>
              </a:rPr>
              <a:t>Existing-project guide: do not recreate the system as specs; spec the next change.</a:t>
            </a:r>
          </a:p>
          <a:p>
            <a:pPr algn="l">
              <a:spcBef>
                <a:spcPts val="1200"/>
              </a:spcBef>
              <a:spcAft>
                <a:spcPts val="0"/>
              </a:spcAft>
            </a:pPr>
            <a:r>
              <a:rPr sz="1600" b="1" i="0">
                <a:solidFill>
                  <a:srgbClr val="0E4B48"/>
                </a:solidFill>
                <a:latin typeface="Calibri"/>
                <a:ea typeface="Calibri"/>
                <a:cs typeface="Calibri"/>
              </a:rPr>
              <a:t>BMAD</a:t>
            </a:r>
          </a:p>
          <a:p>
            <a:pPr algn="l">
              <a:spcBef>
                <a:spcPts val="300"/>
              </a:spcBef>
              <a:spcAft>
                <a:spcPts val="0"/>
              </a:spcAft>
            </a:pPr>
            <a:r>
              <a:rPr sz="1300" b="0" i="0">
                <a:solidFill>
                  <a:srgbClr val="1C1915"/>
                </a:solidFill>
                <a:latin typeface="Calibri"/>
                <a:ea typeface="Calibri"/>
                <a:cs typeface="Calibri"/>
              </a:rPr>
              <a:t>github.com/bmad-code-org/BMAD-METHOD — API 6 Oct 2026</a:t>
            </a:r>
          </a:p>
          <a:p>
            <a:pPr algn="l">
              <a:spcBef>
                <a:spcPts val="300"/>
              </a:spcBef>
              <a:spcAft>
                <a:spcPts val="0"/>
              </a:spcAft>
            </a:pPr>
            <a:r>
              <a:rPr sz="1300" b="0" i="0">
                <a:solidFill>
                  <a:srgbClr val="1C1915"/>
                </a:solidFill>
                <a:latin typeface="Calibri"/>
                <a:ea typeface="Calibri"/>
                <a:cs typeface="Calibri"/>
              </a:rPr>
              <a:t>53,827 stars. Created 13 Apr 2025. Pushed 6 Oct 2026.</a:t>
            </a:r>
          </a:p>
          <a:p>
            <a:pPr algn="l">
              <a:spcBef>
                <a:spcPts val="300"/>
              </a:spcBef>
              <a:spcAft>
                <a:spcPts val="0"/>
              </a:spcAft>
            </a:pPr>
            <a:r>
              <a:rPr sz="1300" b="0" i="0">
                <a:solidFill>
                  <a:srgbClr val="1C1915"/>
                </a:solidFill>
                <a:latin typeface="Calibri"/>
                <a:ea typeface="Calibri"/>
                <a:cs typeface="Calibri"/>
              </a:rPr>
              <a:t>LICENSE file is MIT. API SPDX field is NOASSERTION.</a:t>
            </a:r>
          </a:p>
          <a:p>
            <a:pPr algn="l">
              <a:spcBef>
                <a:spcPts val="300"/>
              </a:spcBef>
              <a:spcAft>
                <a:spcPts val="0"/>
              </a:spcAft>
            </a:pPr>
            <a:r>
              <a:rPr sz="1300" b="0" i="0">
                <a:solidFill>
                  <a:srgbClr val="1C1915"/>
                </a:solidFill>
                <a:latin typeface="Calibri"/>
                <a:ea typeface="Calibri"/>
                <a:cs typeface="Calibri"/>
              </a:rPr>
              <a:t>Release v6.12.1 on 4 Oct 2026. v6.11.0 on 10 Aug 2026 renamed quick-dev to build; shims until v7; persona A/B.</a:t>
            </a:r>
          </a:p>
        </p:txBody>
      </p:sp>
      <p:sp>
        <p:nvSpPr>
          <p:cNvPr id="8" name="TextBox 7"/>
          <p:cNvSpPr txBox="1"/>
          <p:nvPr/>
        </p:nvSpPr>
        <p:spPr>
          <a:xfrm>
            <a:off x="6236208" y="1325880"/>
            <a:ext cx="5440680" cy="4937760"/>
          </a:xfrm>
          <a:prstGeom prst="rect">
            <a:avLst/>
          </a:prstGeom>
          <a:noFill/>
        </p:spPr>
        <p:txBody>
          <a:bodyPr wrap="square" lIns="0" tIns="0" rIns="0" bIns="0" anchor="t"/>
          <a:lstStyle/>
          <a:p>
            <a:pPr algn="l">
              <a:spcBef>
                <a:spcPts val="0"/>
              </a:spcBef>
              <a:spcAft>
                <a:spcPts val="0"/>
              </a:spcAft>
            </a:pPr>
            <a:r>
              <a:rPr sz="1600" b="1" i="0">
                <a:solidFill>
                  <a:srgbClr val="0E4B48"/>
                </a:solidFill>
                <a:latin typeface="Calibri"/>
                <a:ea typeface="Calibri"/>
                <a:cs typeface="Calibri"/>
              </a:rPr>
              <a:t>BMAD, continued</a:t>
            </a:r>
          </a:p>
          <a:p>
            <a:pPr algn="l">
              <a:spcBef>
                <a:spcPts val="300"/>
              </a:spcBef>
              <a:spcAft>
                <a:spcPts val="0"/>
              </a:spcAft>
            </a:pPr>
            <a:r>
              <a:rPr sz="1300" b="0" i="0">
                <a:solidFill>
                  <a:srgbClr val="1C1915"/>
                </a:solidFill>
                <a:latin typeface="Calibri"/>
                <a:ea typeface="Calibri"/>
                <a:cs typeface="Calibri"/>
              </a:rPr>
              <a:t>README: skills CLI, Claude and Codex marketplaces, uv. Small changes go straight to build.</a:t>
            </a:r>
          </a:p>
          <a:p>
            <a:pPr algn="l">
              <a:spcBef>
                <a:spcPts val="300"/>
              </a:spcBef>
              <a:spcAft>
                <a:spcPts val="0"/>
              </a:spcAft>
            </a:pPr>
            <a:r>
              <a:rPr sz="1300" b="0" i="0">
                <a:solidFill>
                  <a:srgbClr val="1C1915"/>
                </a:solidFill>
                <a:latin typeface="Calibri"/>
                <a:ea typeface="Calibri"/>
                <a:cs typeface="Calibri"/>
              </a:rPr>
              <a:t>Delivery loop: clarify, plan, build and verify; learn loops back.</a:t>
            </a:r>
          </a:p>
          <a:p>
            <a:pPr algn="l">
              <a:spcBef>
                <a:spcPts val="300"/>
              </a:spcBef>
              <a:spcAft>
                <a:spcPts val="0"/>
              </a:spcAft>
            </a:pPr>
            <a:r>
              <a:rPr sz="1300" b="0" i="0">
                <a:solidFill>
                  <a:srgbClr val="1C1915"/>
                </a:solidFill>
                <a:latin typeface="Calibri"/>
                <a:ea typeface="Calibri"/>
                <a:cs typeface="Calibri"/>
              </a:rPr>
              <a:t>docs.bmad-method.org — existing codebase, party mode, define a specification.</a:t>
            </a:r>
          </a:p>
          <a:p>
            <a:pPr algn="l">
              <a:spcBef>
                <a:spcPts val="300"/>
              </a:spcBef>
              <a:spcAft>
                <a:spcPts val="0"/>
              </a:spcAft>
            </a:pPr>
            <a:r>
              <a:rPr sz="1300" b="0" i="0">
                <a:solidFill>
                  <a:srgbClr val="1C1915"/>
                </a:solidFill>
                <a:latin typeface="Calibri"/>
                <a:ea typeface="Calibri"/>
                <a:cs typeface="Calibri"/>
              </a:rPr>
              <a:t>Party mode: one model voicing five personas can quietly converge.</a:t>
            </a:r>
          </a:p>
          <a:p>
            <a:pPr algn="l">
              <a:spcBef>
                <a:spcPts val="300"/>
              </a:spcBef>
              <a:spcAft>
                <a:spcPts val="0"/>
              </a:spcAft>
            </a:pPr>
            <a:r>
              <a:rPr sz="1300" b="0" i="0">
                <a:solidFill>
                  <a:srgbClr val="1C1915"/>
                </a:solidFill>
                <a:latin typeface="Calibri"/>
                <a:ea typeface="Calibri"/>
                <a:cs typeface="Calibri"/>
              </a:rPr>
              <a:t>Spec kernel: Why, Capabilities, Constraints, Non-goals, Success signal.</a:t>
            </a:r>
          </a:p>
          <a:p>
            <a:pPr algn="l">
              <a:spcBef>
                <a:spcPts val="300"/>
              </a:spcBef>
              <a:spcAft>
                <a:spcPts val="0"/>
              </a:spcAft>
            </a:pPr>
            <a:r>
              <a:rPr sz="1300" b="0" i="0">
                <a:solidFill>
                  <a:srgbClr val="1C1915"/>
                </a:solidFill>
                <a:latin typeface="Calibri"/>
                <a:ea typeface="Calibri"/>
                <a:cs typeface="Calibri"/>
              </a:rPr>
              <a:t>Existing codebase: restating readable code bloats the window. document-project is deprecated.</a:t>
            </a:r>
          </a:p>
          <a:p>
            <a:pPr algn="l">
              <a:spcBef>
                <a:spcPts val="1400"/>
              </a:spcBef>
              <a:spcAft>
                <a:spcPts val="0"/>
              </a:spcAft>
            </a:pPr>
            <a:r>
              <a:rPr sz="1300" b="0" i="0">
                <a:solidFill>
                  <a:srgbClr val="6B645C"/>
                </a:solidFill>
                <a:latin typeface="Calibri"/>
                <a:ea typeface="Calibri"/>
                <a:cs typeface="Calibri"/>
              </a:rPr>
              <a:t>Full URLs are in sources.md, with the same retrieval date.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3E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E4B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66928" y="6510528"/>
            <a:ext cx="7772400" cy="237744"/>
          </a:xfrm>
          <a:prstGeom prst="rect">
            <a:avLst/>
          </a:prstGeom>
          <a:noFill/>
        </p:spPr>
        <p:txBody>
          <a:bodyPr wrap="square" lIns="0" tIns="0" rIns="0" bIns="0" anchor="ctr"/>
          <a:lstStyle/>
          <a:p>
            <a:pPr algn="l">
              <a:spcBef>
                <a:spcPts val="0"/>
              </a:spcBef>
              <a:spcAft>
                <a:spcPts val="0"/>
              </a:spcAft>
            </a:pPr>
            <a:r>
              <a:rPr sz="1200" b="0" i="0">
                <a:solidFill>
                  <a:srgbClr val="6B645C"/>
                </a:solidFill>
                <a:latin typeface="Calibri"/>
                <a:ea typeface="Calibri"/>
                <a:cs typeface="Calibri"/>
              </a:rPr>
              <a:t>AI-driven development</a:t>
            </a:r>
          </a:p>
        </p:txBody>
      </p:sp>
      <p:sp>
        <p:nvSpPr>
          <p:cNvPr id="4" name="TextBox 3"/>
          <p:cNvSpPr txBox="1"/>
          <p:nvPr/>
        </p:nvSpPr>
        <p:spPr>
          <a:xfrm>
            <a:off x="8595360" y="6510528"/>
            <a:ext cx="3017520" cy="237744"/>
          </a:xfrm>
          <a:prstGeom prst="rect">
            <a:avLst/>
          </a:prstGeom>
          <a:noFill/>
        </p:spPr>
        <p:txBody>
          <a:bodyPr wrap="square" lIns="0" tIns="0" rIns="0" bIns="0" anchor="ctr"/>
          <a:lstStyle/>
          <a:p>
            <a:pPr algn="r">
              <a:spcBef>
                <a:spcPts val="0"/>
              </a:spcBef>
              <a:spcAft>
                <a:spcPts val="0"/>
              </a:spcAft>
            </a:pPr>
            <a:r>
              <a:rPr sz="1200" b="0" i="0">
                <a:solidFill>
                  <a:srgbClr val="6B645C"/>
                </a:solidFill>
                <a:latin typeface="Calibri"/>
                <a:ea typeface="Calibri"/>
                <a:cs typeface="Calibri"/>
              </a:rPr>
              <a:t>20  /  20</a:t>
            </a:r>
          </a:p>
        </p:txBody>
      </p:sp>
      <p:sp>
        <p:nvSpPr>
          <p:cNvPr id="5" name="TextBox 4"/>
          <p:cNvSpPr txBox="1"/>
          <p:nvPr/>
        </p:nvSpPr>
        <p:spPr>
          <a:xfrm>
            <a:off x="566928" y="256032"/>
            <a:ext cx="11064240" cy="256032"/>
          </a:xfrm>
          <a:prstGeom prst="rect">
            <a:avLst/>
          </a:prstGeom>
          <a:noFill/>
        </p:spPr>
        <p:txBody>
          <a:bodyPr wrap="square" lIns="0" tIns="0" rIns="0" bIns="0" anchor="t"/>
          <a:lstStyle/>
          <a:p>
            <a:pPr algn="l">
              <a:spcBef>
                <a:spcPts val="0"/>
              </a:spcBef>
              <a:spcAft>
                <a:spcPts val="0"/>
              </a:spcAft>
            </a:pPr>
            <a:r>
              <a:rPr sz="1300" b="1" i="0">
                <a:solidFill>
                  <a:srgbClr val="0E4B48"/>
                </a:solidFill>
                <a:latin typeface="Calibri"/>
                <a:ea typeface="Calibri"/>
                <a:cs typeface="Calibri"/>
              </a:rPr>
              <a:t>APPENDIX</a:t>
            </a:r>
          </a:p>
        </p:txBody>
      </p:sp>
      <p:sp>
        <p:nvSpPr>
          <p:cNvPr id="6" name="TextBox 5"/>
          <p:cNvSpPr txBox="1"/>
          <p:nvPr/>
        </p:nvSpPr>
        <p:spPr>
          <a:xfrm>
            <a:off x="566928" y="493776"/>
            <a:ext cx="11064240" cy="566928"/>
          </a:xfrm>
          <a:prstGeom prst="rect">
            <a:avLst/>
          </a:prstGeom>
          <a:noFill/>
        </p:spPr>
        <p:txBody>
          <a:bodyPr wrap="square" lIns="0" tIns="0" rIns="0" bIns="0" anchor="t"/>
          <a:lstStyle/>
          <a:p>
            <a:pPr algn="l">
              <a:spcBef>
                <a:spcPts val="0"/>
              </a:spcBef>
              <a:spcAft>
                <a:spcPts val="0"/>
              </a:spcAft>
            </a:pPr>
            <a:r>
              <a:rPr sz="3200" b="1" i="0">
                <a:solidFill>
                  <a:srgbClr val="1C1915"/>
                </a:solidFill>
                <a:latin typeface="Calibri"/>
                <a:ea typeface="Calibri"/>
                <a:cs typeface="Calibri"/>
              </a:rPr>
              <a:t>Sources, continued</a:t>
            </a:r>
          </a:p>
        </p:txBody>
      </p:sp>
      <p:sp>
        <p:nvSpPr>
          <p:cNvPr id="7" name="TextBox 6"/>
          <p:cNvSpPr txBox="1"/>
          <p:nvPr/>
        </p:nvSpPr>
        <p:spPr>
          <a:xfrm>
            <a:off x="566928" y="1325880"/>
            <a:ext cx="5440680" cy="4937760"/>
          </a:xfrm>
          <a:prstGeom prst="rect">
            <a:avLst/>
          </a:prstGeom>
          <a:noFill/>
        </p:spPr>
        <p:txBody>
          <a:bodyPr wrap="square" lIns="0" tIns="0" rIns="0" bIns="0" anchor="t"/>
          <a:lstStyle/>
          <a:p>
            <a:pPr algn="l">
              <a:spcBef>
                <a:spcPts val="0"/>
              </a:spcBef>
              <a:spcAft>
                <a:spcPts val="0"/>
              </a:spcAft>
            </a:pPr>
            <a:r>
              <a:rPr sz="1600" b="1" i="0">
                <a:solidFill>
                  <a:srgbClr val="0E4B48"/>
                </a:solidFill>
                <a:latin typeface="Calibri"/>
                <a:ea typeface="Calibri"/>
                <a:cs typeface="Calibri"/>
              </a:rPr>
              <a:t>Squad</a:t>
            </a:r>
          </a:p>
          <a:p>
            <a:pPr algn="l">
              <a:spcBef>
                <a:spcPts val="300"/>
              </a:spcBef>
              <a:spcAft>
                <a:spcPts val="0"/>
              </a:spcAft>
            </a:pPr>
            <a:r>
              <a:rPr sz="1300" b="0" i="0">
                <a:solidFill>
                  <a:srgbClr val="1C1915"/>
                </a:solidFill>
                <a:latin typeface="Calibri"/>
                <a:ea typeface="Calibri"/>
                <a:cs typeface="Calibri"/>
              </a:rPr>
              <a:t>github.com/bradygaster/squad — API 6 Oct 2026</a:t>
            </a:r>
          </a:p>
          <a:p>
            <a:pPr algn="l">
              <a:spcBef>
                <a:spcPts val="300"/>
              </a:spcBef>
              <a:spcAft>
                <a:spcPts val="0"/>
              </a:spcAft>
            </a:pPr>
            <a:r>
              <a:rPr sz="1300" b="0" i="0">
                <a:solidFill>
                  <a:srgbClr val="1C1915"/>
                </a:solidFill>
                <a:latin typeface="Calibri"/>
                <a:ea typeface="Calibri"/>
                <a:cs typeface="Calibri"/>
              </a:rPr>
              <a:t>3,251 stars. Created 6 Feb 2026. Pushed 6 Oct 2026. MIT.</a:t>
            </a:r>
          </a:p>
          <a:p>
            <a:pPr algn="l">
              <a:spcBef>
                <a:spcPts val="300"/>
              </a:spcBef>
              <a:spcAft>
                <a:spcPts val="0"/>
              </a:spcAft>
            </a:pPr>
            <a:r>
              <a:rPr sz="1300" b="0" i="0">
                <a:solidFill>
                  <a:srgbClr val="1C1915"/>
                </a:solidFill>
                <a:latin typeface="Calibri"/>
                <a:ea typeface="Calibri"/>
                <a:cs typeface="Calibri"/>
              </a:rPr>
              <a:t>Release v1.0.1 published 4 Oct 2026. Homepage bradygaster.github.io/squad.</a:t>
            </a:r>
          </a:p>
          <a:p>
            <a:pPr algn="l">
              <a:spcBef>
                <a:spcPts val="300"/>
              </a:spcBef>
              <a:spcAft>
                <a:spcPts val="0"/>
              </a:spcAft>
            </a:pPr>
            <a:r>
              <a:rPr sz="1300" b="0" i="0">
                <a:solidFill>
                  <a:srgbClr val="1C1915"/>
                </a:solidFill>
                <a:latin typeface="Calibri"/>
                <a:ea typeface="Calibri"/>
                <a:cs typeface="Calibri"/>
              </a:rPr>
              <a:t>README: Copilot team; not a chatbot wearing hats; each member has its own context.</a:t>
            </a:r>
          </a:p>
          <a:p>
            <a:pPr algn="l">
              <a:spcBef>
                <a:spcPts val="300"/>
              </a:spcBef>
              <a:spcAft>
                <a:spcPts val="0"/>
              </a:spcAft>
            </a:pPr>
            <a:r>
              <a:rPr sz="1300" b="0" i="0">
                <a:solidFill>
                  <a:srgbClr val="1C1915"/>
                </a:solidFill>
                <a:latin typeface="Calibri"/>
                <a:ea typeface="Calibri"/>
                <a:cs typeface="Calibri"/>
              </a:rPr>
              <a:t>npm install wants Node.js 22.5+. Standalone install vendors Node. copilot --agent squad.</a:t>
            </a:r>
          </a:p>
          <a:p>
            <a:pPr algn="l">
              <a:spcBef>
                <a:spcPts val="300"/>
              </a:spcBef>
              <a:spcAft>
                <a:spcPts val="0"/>
              </a:spcAft>
            </a:pPr>
            <a:r>
              <a:rPr sz="1300" b="0" i="0">
                <a:solidFill>
                  <a:srgbClr val="1C1915"/>
                </a:solidFill>
                <a:latin typeface="Calibri"/>
                <a:ea typeface="Calibri"/>
                <a:cs typeface="Calibri"/>
              </a:rPr>
              <a:t>Your Team: charter.md is identity, expertise, and voice, compiled into the prompt.</a:t>
            </a:r>
          </a:p>
          <a:p>
            <a:pPr algn="l">
              <a:spcBef>
                <a:spcPts val="300"/>
              </a:spcBef>
              <a:spcAft>
                <a:spcPts val="0"/>
              </a:spcAft>
            </a:pPr>
            <a:r>
              <a:rPr sz="1300" b="0" i="0">
                <a:solidFill>
                  <a:srgbClr val="1C1915"/>
                </a:solidFill>
                <a:latin typeface="Calibri"/>
                <a:ea typeface="Calibri"/>
                <a:cs typeface="Calibri"/>
              </a:rPr>
              <a:t>Parallel Work and Models: per-role and per-task model routing; cost wins when in doubt.</a:t>
            </a:r>
          </a:p>
          <a:p>
            <a:pPr algn="l">
              <a:spcBef>
                <a:spcPts val="300"/>
              </a:spcBef>
              <a:spcAft>
                <a:spcPts val="0"/>
              </a:spcAft>
            </a:pPr>
            <a:r>
              <a:rPr sz="1300" b="0" i="0">
                <a:solidFill>
                  <a:srgbClr val="1C1915"/>
                </a:solidFill>
                <a:latin typeface="Calibri"/>
                <a:ea typeface="Calibri"/>
                <a:cs typeface="Calibri"/>
              </a:rPr>
              <a:t>Switching Models scenario: tester on the fast tier.</a:t>
            </a:r>
          </a:p>
        </p:txBody>
      </p:sp>
      <p:sp>
        <p:nvSpPr>
          <p:cNvPr id="8" name="TextBox 7"/>
          <p:cNvSpPr txBox="1"/>
          <p:nvPr/>
        </p:nvSpPr>
        <p:spPr>
          <a:xfrm>
            <a:off x="6236208" y="1325880"/>
            <a:ext cx="5440680" cy="4937760"/>
          </a:xfrm>
          <a:prstGeom prst="rect">
            <a:avLst/>
          </a:prstGeom>
          <a:noFill/>
        </p:spPr>
        <p:txBody>
          <a:bodyPr wrap="square" lIns="0" tIns="0" rIns="0" bIns="0" anchor="t"/>
          <a:lstStyle/>
          <a:p>
            <a:pPr algn="l">
              <a:spcBef>
                <a:spcPts val="0"/>
              </a:spcBef>
              <a:spcAft>
                <a:spcPts val="0"/>
              </a:spcAft>
            </a:pPr>
            <a:r>
              <a:rPr sz="1600" b="1" i="0">
                <a:solidFill>
                  <a:srgbClr val="0E4B48"/>
                </a:solidFill>
                <a:latin typeface="Calibri"/>
                <a:ea typeface="Calibri"/>
                <a:cs typeface="Calibri"/>
              </a:rPr>
              <a:t>Pi, the example harness</a:t>
            </a:r>
          </a:p>
          <a:p>
            <a:pPr algn="l">
              <a:spcBef>
                <a:spcPts val="300"/>
              </a:spcBef>
              <a:spcAft>
                <a:spcPts val="0"/>
              </a:spcAft>
            </a:pPr>
            <a:r>
              <a:rPr sz="1300" b="0" i="0">
                <a:solidFill>
                  <a:srgbClr val="1C1915"/>
                </a:solidFill>
                <a:latin typeface="Calibri"/>
                <a:ea typeface="Calibri"/>
                <a:cs typeface="Calibri"/>
              </a:rPr>
              <a:t>github.com/earendil-works/pi — API 6 Oct 2026</a:t>
            </a:r>
          </a:p>
          <a:p>
            <a:pPr algn="l">
              <a:spcBef>
                <a:spcPts val="300"/>
              </a:spcBef>
              <a:spcAft>
                <a:spcPts val="0"/>
              </a:spcAft>
            </a:pPr>
            <a:r>
              <a:rPr sz="1300" b="0" i="0">
                <a:solidFill>
                  <a:srgbClr val="1C1915"/>
                </a:solidFill>
                <a:latin typeface="Calibri"/>
                <a:ea typeface="Calibri"/>
                <a:cs typeface="Calibri"/>
              </a:rPr>
              <a:t>112,833 stars. Created 9 Aug 2025. Pushed 6 Oct 2026. MIT.</a:t>
            </a:r>
          </a:p>
          <a:p>
            <a:pPr algn="l">
              <a:spcBef>
                <a:spcPts val="300"/>
              </a:spcBef>
              <a:spcAft>
                <a:spcPts val="0"/>
              </a:spcAft>
            </a:pPr>
            <a:r>
              <a:rPr sz="1300" b="0" i="0">
                <a:solidFill>
                  <a:srgbClr val="1C1915"/>
                </a:solidFill>
                <a:latin typeface="Calibri"/>
                <a:ea typeface="Calibri"/>
                <a:cs typeface="Calibri"/>
              </a:rPr>
              <a:t>Release v1.0.4 published 5 Oct 2026. Site pi.dev.</a:t>
            </a:r>
          </a:p>
          <a:p>
            <a:pPr algn="l">
              <a:spcBef>
                <a:spcPts val="300"/>
              </a:spcBef>
              <a:spcAft>
                <a:spcPts val="0"/>
              </a:spcAft>
            </a:pPr>
            <a:r>
              <a:rPr sz="1300" b="0" i="0">
                <a:solidFill>
                  <a:srgbClr val="1C1915"/>
                </a:solidFill>
                <a:latin typeface="Calibri"/>
                <a:ea typeface="Calibri"/>
                <a:cs typeface="Calibri"/>
              </a:rPr>
              <a:t>pi.dev: minimal harness; 15+ providers; skips sub-agents and plan mode in the core.</a:t>
            </a:r>
          </a:p>
          <a:p>
            <a:pPr algn="l">
              <a:spcBef>
                <a:spcPts val="300"/>
              </a:spcBef>
              <a:spcAft>
                <a:spcPts val="0"/>
              </a:spcAft>
            </a:pPr>
            <a:r>
              <a:rPr sz="1300" b="0" i="0">
                <a:solidFill>
                  <a:srgbClr val="1C1915"/>
                </a:solidFill>
                <a:latin typeface="Calibri"/>
                <a:ea typeface="Calibri"/>
                <a:cs typeface="Calibri"/>
              </a:rPr>
              <a:t>Install: curl https://pi.dev/install.sh, or npm i -g @earendil-works/pi-coding-agent.</a:t>
            </a:r>
          </a:p>
          <a:p>
            <a:pPr algn="l">
              <a:spcBef>
                <a:spcPts val="1000"/>
              </a:spcBef>
              <a:spcAft>
                <a:spcPts val="0"/>
              </a:spcAft>
            </a:pPr>
            <a:r>
              <a:rPr sz="1300" b="0" i="0">
                <a:solidFill>
                  <a:srgbClr val="1C1915"/>
                </a:solidFill>
                <a:latin typeface="Calibri"/>
                <a:ea typeface="Calibri"/>
                <a:cs typeface="Calibri"/>
              </a:rPr>
              <a:t>Pi is not a fourth method. It is one harness that will read the three files.</a:t>
            </a:r>
          </a:p>
          <a:p>
            <a:pPr algn="l">
              <a:spcBef>
                <a:spcPts val="1200"/>
              </a:spcBef>
              <a:spcAft>
                <a:spcPts val="0"/>
              </a:spcAft>
            </a:pPr>
            <a:r>
              <a:rPr sz="1300" b="0" i="0">
                <a:solidFill>
                  <a:srgbClr val="6B645C"/>
                </a:solidFill>
                <a:latin typeface="Calibri"/>
                <a:ea typeface="Calibri"/>
                <a:cs typeface="Calibri"/>
              </a:rPr>
              <a:t>Star counts and timestamps are from the GitHub REST API on 6 Oct 2026. Integration count is a manual count of the Spec Kit integrations table the same 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4548</Words>
  <Application>Microsoft Macintosh PowerPoint</Application>
  <PresentationFormat>Widescreen</PresentationFormat>
  <Paragraphs>382</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the new AI frameworks earn their keep?</dc:title>
  <dc:subject>AI-driven development meetup, 6 October 2026</dc:subject>
  <dc:creator/>
  <cp:keywords/>
  <dc:description>generated using python-pptx</dc:description>
  <cp:lastModifiedBy>Roger Weiss</cp:lastModifiedBy>
  <cp:revision>1</cp:revision>
  <dcterms:created xsi:type="dcterms:W3CDTF">2013-01-27T09:14:16Z</dcterms:created>
  <dcterms:modified xsi:type="dcterms:W3CDTF">2026-10-06T10:05:01Z</dcterms:modified>
  <cp:category>Meetup slides</cp:category>
</cp:coreProperties>
</file>